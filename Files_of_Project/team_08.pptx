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7099300" cy="9385300"/>
  <p:embeddedFontLst>
    <p:embeddedFont>
      <p:font typeface="Pretendard Black" panose="020B0600000101010101" charset="-127"/>
      <p:bold r:id="rId13"/>
    </p:embeddedFont>
    <p:embeddedFont>
      <p:font typeface="Pretendard Bold" panose="020B0600000101010101" charset="-127"/>
      <p:bold r:id="rId14"/>
    </p:embeddedFont>
    <p:embeddedFont>
      <p:font typeface="Pretendard Medium" panose="020B0600000101010101" charset="-127"/>
      <p:bold r:id="rId15"/>
    </p:embeddedFont>
    <p:embeddedFont>
      <p:font typeface="Pretendard Regular" panose="020B0600000101010101" charset="-127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4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4.png"/><Relationship Id="rId10" Type="http://schemas.openxmlformats.org/officeDocument/2006/relationships/image" Target="../media/image25.png"/><Relationship Id="rId4" Type="http://schemas.openxmlformats.org/officeDocument/2006/relationships/image" Target="../media/image3.png"/><Relationship Id="rId9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1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5" Type="http://schemas.openxmlformats.org/officeDocument/2006/relationships/image" Target="../media/image4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3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57.png"/><Relationship Id="rId18" Type="http://schemas.openxmlformats.org/officeDocument/2006/relationships/image" Target="../media/image62.png"/><Relationship Id="rId3" Type="http://schemas.openxmlformats.org/officeDocument/2006/relationships/image" Target="../media/image2.png"/><Relationship Id="rId21" Type="http://schemas.openxmlformats.org/officeDocument/2006/relationships/image" Target="../media/image65.png"/><Relationship Id="rId7" Type="http://schemas.openxmlformats.org/officeDocument/2006/relationships/image" Target="../media/image3.png"/><Relationship Id="rId12" Type="http://schemas.openxmlformats.org/officeDocument/2006/relationships/image" Target="../media/image56.png"/><Relationship Id="rId17" Type="http://schemas.openxmlformats.org/officeDocument/2006/relationships/image" Target="../media/image61.png"/><Relationship Id="rId25" Type="http://schemas.openxmlformats.org/officeDocument/2006/relationships/image" Target="../media/image69.png"/><Relationship Id="rId2" Type="http://schemas.openxmlformats.org/officeDocument/2006/relationships/image" Target="../media/image1.png"/><Relationship Id="rId16" Type="http://schemas.openxmlformats.org/officeDocument/2006/relationships/image" Target="../media/image60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11" Type="http://schemas.openxmlformats.org/officeDocument/2006/relationships/image" Target="../media/image55.png"/><Relationship Id="rId24" Type="http://schemas.openxmlformats.org/officeDocument/2006/relationships/image" Target="../media/image68.png"/><Relationship Id="rId5" Type="http://schemas.openxmlformats.org/officeDocument/2006/relationships/image" Target="../media/image51.png"/><Relationship Id="rId15" Type="http://schemas.openxmlformats.org/officeDocument/2006/relationships/image" Target="../media/image59.png"/><Relationship Id="rId23" Type="http://schemas.openxmlformats.org/officeDocument/2006/relationships/image" Target="../media/image67.png"/><Relationship Id="rId10" Type="http://schemas.openxmlformats.org/officeDocument/2006/relationships/image" Target="../media/image54.png"/><Relationship Id="rId19" Type="http://schemas.openxmlformats.org/officeDocument/2006/relationships/image" Target="../media/image63.png"/><Relationship Id="rId4" Type="http://schemas.openxmlformats.org/officeDocument/2006/relationships/image" Target="../media/image50.png"/><Relationship Id="rId9" Type="http://schemas.openxmlformats.org/officeDocument/2006/relationships/image" Target="../media/image53.png"/><Relationship Id="rId14" Type="http://schemas.openxmlformats.org/officeDocument/2006/relationships/image" Target="../media/image58.png"/><Relationship Id="rId22" Type="http://schemas.openxmlformats.org/officeDocument/2006/relationships/image" Target="../media/image6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6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12" Type="http://schemas.openxmlformats.org/officeDocument/2006/relationships/image" Target="../media/image7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74.png"/><Relationship Id="rId5" Type="http://schemas.openxmlformats.org/officeDocument/2006/relationships/image" Target="../media/image70.png"/><Relationship Id="rId10" Type="http://schemas.openxmlformats.org/officeDocument/2006/relationships/image" Target="../media/image73.png"/><Relationship Id="rId4" Type="http://schemas.openxmlformats.org/officeDocument/2006/relationships/image" Target="../media/image53.png"/><Relationship Id="rId9" Type="http://schemas.openxmlformats.org/officeDocument/2006/relationships/image" Target="../media/image72.png"/><Relationship Id="rId14" Type="http://schemas.openxmlformats.org/officeDocument/2006/relationships/image" Target="../media/image7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2.png"/><Relationship Id="rId7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4.png"/><Relationship Id="rId10" Type="http://schemas.openxmlformats.org/officeDocument/2006/relationships/image" Target="../media/image82.png"/><Relationship Id="rId4" Type="http://schemas.openxmlformats.org/officeDocument/2006/relationships/image" Target="../media/image3.png"/><Relationship Id="rId9" Type="http://schemas.openxmlformats.org/officeDocument/2006/relationships/image" Target="../media/image8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2.png"/><Relationship Id="rId7" Type="http://schemas.openxmlformats.org/officeDocument/2006/relationships/image" Target="../media/image8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2.png"/><Relationship Id="rId7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0.png"/><Relationship Id="rId4" Type="http://schemas.openxmlformats.org/officeDocument/2006/relationships/image" Target="../media/image3.png"/><Relationship Id="rId9" Type="http://schemas.openxmlformats.org/officeDocument/2006/relationships/image" Target="../media/image8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3" Type="http://schemas.openxmlformats.org/officeDocument/2006/relationships/image" Target="../media/image2.png"/><Relationship Id="rId7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4.png"/><Relationship Id="rId12" Type="http://schemas.openxmlformats.org/officeDocument/2006/relationships/image" Target="../media/image9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96.png"/><Relationship Id="rId5" Type="http://schemas.openxmlformats.org/officeDocument/2006/relationships/image" Target="../media/image4.png"/><Relationship Id="rId10" Type="http://schemas.openxmlformats.org/officeDocument/2006/relationships/image" Target="../media/image95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172700"/>
            <a:ext cx="9144000" cy="11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8700" y="4000500"/>
            <a:ext cx="241300" cy="1206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84400" y="3797300"/>
            <a:ext cx="4495800" cy="3911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08200" y="3327400"/>
            <a:ext cx="4635500" cy="2730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1400" y="2311400"/>
            <a:ext cx="2120900" cy="2616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30700" y="3035300"/>
            <a:ext cx="2082800" cy="1803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0" y="4267200"/>
            <a:ext cx="2222500" cy="2082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9800" y="4406900"/>
            <a:ext cx="2209800" cy="1981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67300" y="7010400"/>
            <a:ext cx="1612900" cy="1231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82700" y="2984500"/>
            <a:ext cx="1612900" cy="2019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705100" y="6248400"/>
            <a:ext cx="330200" cy="1219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51400" y="6934200"/>
            <a:ext cx="342900" cy="11938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09700" y="4343400"/>
            <a:ext cx="469900" cy="6604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136900" y="6477000"/>
            <a:ext cx="342900" cy="1231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176500" y="2057400"/>
            <a:ext cx="1562100" cy="1562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205200" y="7467600"/>
            <a:ext cx="1104900" cy="11049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8102600" y="1790700"/>
            <a:ext cx="9410700" cy="3302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10000" b="0" i="0" u="none" strike="noStrike" spc="-1600">
                <a:solidFill>
                  <a:srgbClr val="3958E3"/>
                </a:solidFill>
                <a:ea typeface="S-Core Dream 7 ExtraBold"/>
              </a:rPr>
              <a:t>학습은</a:t>
            </a:r>
            <a:r>
              <a:rPr lang="en-US" sz="10000" b="0" i="0" u="none" strike="noStrike" spc="-1600">
                <a:solidFill>
                  <a:srgbClr val="3958E3"/>
                </a:solidFill>
                <a:latin typeface="S-Core Dream 7 ExtraBold"/>
              </a:rPr>
              <a:t> PDF</a:t>
            </a:r>
            <a:r>
              <a:rPr lang="ko-KR" sz="10000" b="0" i="0" u="none" strike="noStrike" spc="-1600">
                <a:solidFill>
                  <a:srgbClr val="3958E3"/>
                </a:solidFill>
                <a:ea typeface="S-Core Dream 7 ExtraBold"/>
              </a:rPr>
              <a:t>로</a:t>
            </a:r>
            <a:r>
              <a:rPr lang="en-US" sz="10000" b="0" i="0" u="none" strike="noStrike" spc="-1600">
                <a:solidFill>
                  <a:srgbClr val="3958E3"/>
                </a:solidFill>
                <a:latin typeface="S-Core Dream 7 ExtraBold"/>
              </a:rPr>
              <a:t> </a:t>
            </a:r>
          </a:p>
          <a:p>
            <a:pPr lvl="0" algn="l">
              <a:lnSpc>
                <a:spcPct val="99600"/>
              </a:lnSpc>
            </a:pPr>
            <a:r>
              <a:rPr lang="ko-KR" sz="10000" b="0" i="0" u="none" strike="noStrike" spc="-1600">
                <a:solidFill>
                  <a:srgbClr val="3958E3"/>
                </a:solidFill>
                <a:ea typeface="S-Core Dream 7 ExtraBold"/>
              </a:rPr>
              <a:t>복습은</a:t>
            </a:r>
            <a:r>
              <a:rPr lang="en-US" sz="10000" b="0" i="0" u="none" strike="noStrike" spc="-1600">
                <a:solidFill>
                  <a:srgbClr val="3958E3"/>
                </a:solidFill>
                <a:latin typeface="S-Core Dream 7 ExtraBold"/>
              </a:rPr>
              <a:t> PDFAI</a:t>
            </a:r>
            <a:r>
              <a:rPr lang="ko-KR" sz="10000" b="0" i="0" u="none" strike="noStrike" spc="-1600">
                <a:solidFill>
                  <a:srgbClr val="3958E3"/>
                </a:solidFill>
                <a:ea typeface="S-Core Dream 7 ExtraBold"/>
              </a:rPr>
              <a:t>로</a:t>
            </a:r>
            <a:r>
              <a:rPr lang="en-US" sz="10000" b="0" i="0" u="none" strike="noStrike" spc="-1600">
                <a:solidFill>
                  <a:srgbClr val="3958E3"/>
                </a:solidFill>
                <a:latin typeface="S-Core Dream 7 ExtraBold"/>
              </a:rPr>
              <a:t> 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874500" y="8369300"/>
            <a:ext cx="6451600" cy="2755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737600" y="7747000"/>
            <a:ext cx="10515600" cy="939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4700" b="0" i="0" u="none" strike="noStrike">
                <a:solidFill>
                  <a:srgbClr val="000000"/>
                </a:solidFill>
                <a:latin typeface="Pretendard Bold"/>
              </a:rPr>
              <a:t>WWW.AIBONGRAK.WORK</a:t>
            </a:r>
            <a:r>
              <a:rPr lang="en-US" sz="5300" b="0" i="0" u="none" strike="noStrike">
                <a:solidFill>
                  <a:srgbClr val="000000"/>
                </a:solidFill>
                <a:latin typeface="Pretendard Bold"/>
              </a:rPr>
              <a:t> 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172700"/>
            <a:ext cx="9144000" cy="114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92100" y="279400"/>
            <a:ext cx="177419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6800" b="0" i="0" u="none" strike="noStrike">
                <a:solidFill>
                  <a:srgbClr val="3958E3"/>
                </a:solidFill>
                <a:ea typeface="S-Core Dream 7 ExtraBold"/>
              </a:rPr>
              <a:t>목차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" y="2197100"/>
            <a:ext cx="5283200" cy="3225800"/>
          </a:xfrm>
          <a:prstGeom prst="rect">
            <a:avLst/>
          </a:prstGeom>
          <a:effectLst>
            <a:outerShdw blurRad="90607" dist="124019" dir="5400000">
              <a:srgbClr val="CDD9ED">
                <a:alpha val="41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0" y="1879600"/>
            <a:ext cx="749300" cy="749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749300" y="3429000"/>
            <a:ext cx="49784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프로젝트</a:t>
            </a:r>
            <a:r>
              <a:rPr lang="en-US" sz="4200" b="0" i="0" u="none" strike="noStrike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개요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4900" y="1638300"/>
            <a:ext cx="1435100" cy="14351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514600" y="1905000"/>
            <a:ext cx="11303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830"/>
              </a:lnSpc>
            </a:pPr>
            <a:r>
              <a:rPr lang="en-US" sz="4400" b="0" i="0" u="none" strike="noStrike" spc="-200">
                <a:solidFill>
                  <a:srgbClr val="44CCE5"/>
                </a:solidFill>
                <a:latin typeface="S-Core Dream 7 ExtraBold"/>
              </a:rPr>
              <a:t>Ⅰ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400" y="2197100"/>
            <a:ext cx="5283200" cy="3225800"/>
          </a:xfrm>
          <a:prstGeom prst="rect">
            <a:avLst/>
          </a:prstGeom>
          <a:effectLst>
            <a:outerShdw blurRad="90607" dist="124019" dir="5400000">
              <a:srgbClr val="CDD9ED">
                <a:alpha val="41000"/>
              </a:srgbClr>
            </a:outerShdw>
          </a:effectLst>
        </p:spPr>
      </p:pic>
      <p:sp>
        <p:nvSpPr>
          <p:cNvPr id="13" name="TextBox 13"/>
          <p:cNvSpPr txBox="1"/>
          <p:nvPr/>
        </p:nvSpPr>
        <p:spPr>
          <a:xfrm>
            <a:off x="6654800" y="3429000"/>
            <a:ext cx="49784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문제정의</a:t>
            </a:r>
            <a:r>
              <a:rPr lang="en-US" sz="4200" b="0" i="0" u="none" strike="noStrike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및</a:t>
            </a:r>
            <a:r>
              <a:rPr lang="en-US" sz="4200" b="0" i="0" u="none" strike="noStrike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목표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1879600"/>
            <a:ext cx="749300" cy="7493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0100" y="1511300"/>
            <a:ext cx="1447800" cy="1447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750300" y="1765300"/>
            <a:ext cx="7874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830"/>
              </a:lnSpc>
            </a:pPr>
            <a:r>
              <a:rPr lang="en-US" sz="4400" b="0" i="0" u="none" strike="noStrike" spc="-200">
                <a:solidFill>
                  <a:srgbClr val="FFFFFF"/>
                </a:solidFill>
                <a:latin typeface="S-Core Dream 7 ExtraBold"/>
              </a:rPr>
              <a:t>Ⅱ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0600" y="2197100"/>
            <a:ext cx="5283200" cy="3225800"/>
          </a:xfrm>
          <a:prstGeom prst="rect">
            <a:avLst/>
          </a:prstGeom>
          <a:effectLst>
            <a:outerShdw blurRad="90607" dist="124019" dir="5400000">
              <a:srgbClr val="CDD9ED">
                <a:alpha val="41000"/>
              </a:srgbClr>
            </a:outerShdw>
          </a:effectLst>
        </p:spPr>
      </p:pic>
      <p:sp>
        <p:nvSpPr>
          <p:cNvPr id="18" name="TextBox 18"/>
          <p:cNvSpPr txBox="1"/>
          <p:nvPr/>
        </p:nvSpPr>
        <p:spPr>
          <a:xfrm>
            <a:off x="12573000" y="3505200"/>
            <a:ext cx="49784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시스템</a:t>
            </a:r>
            <a:r>
              <a:rPr lang="en-US" sz="4200" b="0" i="0" u="none" strike="noStrike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아키텍처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81200" y="1879600"/>
            <a:ext cx="749300" cy="749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38300" y="1435100"/>
            <a:ext cx="1422400" cy="14224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4655800" y="1790700"/>
            <a:ext cx="8128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830"/>
              </a:lnSpc>
            </a:pPr>
            <a:r>
              <a:rPr lang="en-US" sz="4400" b="0" i="0" u="none" strike="noStrike" spc="-200">
                <a:solidFill>
                  <a:srgbClr val="44CCE5"/>
                </a:solidFill>
                <a:latin typeface="S-Core Dream 7 ExtraBold"/>
              </a:rPr>
              <a:t>Ⅲ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900" y="6261100"/>
            <a:ext cx="5283200" cy="3225800"/>
          </a:xfrm>
          <a:prstGeom prst="rect">
            <a:avLst/>
          </a:prstGeom>
          <a:effectLst>
            <a:outerShdw blurRad="90607" dist="124019" dir="5400000">
              <a:srgbClr val="CDD9ED">
                <a:alpha val="41000"/>
              </a:srgbClr>
            </a:outerShdw>
          </a:effectLst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0" y="5943600"/>
            <a:ext cx="749300" cy="7493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749300" y="7480300"/>
            <a:ext cx="49784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주요</a:t>
            </a:r>
            <a:r>
              <a:rPr lang="en-US" sz="4200" b="0" i="0" u="none" strike="noStrike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기능</a:t>
            </a:r>
            <a:r>
              <a:rPr lang="en-US" sz="4200" b="0" i="0" u="none" strike="noStrike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요약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13000" y="5613400"/>
            <a:ext cx="1397000" cy="13970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2590800" y="5918200"/>
            <a:ext cx="1104900" cy="7620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830"/>
              </a:lnSpc>
            </a:pPr>
            <a:r>
              <a:rPr lang="en-US" sz="4300" b="0" i="0" u="none" strike="noStrike" spc="-200">
                <a:solidFill>
                  <a:srgbClr val="44CCE5"/>
                </a:solidFill>
                <a:latin typeface="S-Core Dream 7 ExtraBold"/>
              </a:rPr>
              <a:t>Ⅳ</a:t>
            </a: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400" y="6261100"/>
            <a:ext cx="5283200" cy="3225800"/>
          </a:xfrm>
          <a:prstGeom prst="rect">
            <a:avLst/>
          </a:prstGeom>
          <a:effectLst>
            <a:outerShdw blurRad="90607" dist="124019" dir="5400000">
              <a:srgbClr val="CDD9ED">
                <a:alpha val="41000"/>
              </a:srgbClr>
            </a:outerShdw>
          </a:effectLst>
        </p:spPr>
      </p:pic>
      <p:sp>
        <p:nvSpPr>
          <p:cNvPr id="28" name="TextBox 28"/>
          <p:cNvSpPr txBox="1"/>
          <p:nvPr/>
        </p:nvSpPr>
        <p:spPr>
          <a:xfrm>
            <a:off x="6718300" y="7556500"/>
            <a:ext cx="49784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기술</a:t>
            </a:r>
            <a:r>
              <a:rPr lang="en-US" sz="4200" b="0" i="0" u="none" strike="noStrike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시연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0" y="5943600"/>
            <a:ext cx="749300" cy="7493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59800" y="5626100"/>
            <a:ext cx="1460500" cy="14605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8712200" y="5905500"/>
            <a:ext cx="1155700" cy="787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830"/>
              </a:lnSpc>
            </a:pPr>
            <a:r>
              <a:rPr lang="en-US" sz="4500" b="0" i="0" u="none" strike="noStrike" spc="-200">
                <a:solidFill>
                  <a:srgbClr val="FFFFFF"/>
                </a:solidFill>
                <a:latin typeface="S-Core Dream 7 ExtraBold"/>
              </a:rPr>
              <a:t>Ⅴ</a:t>
            </a: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20600" y="6261100"/>
            <a:ext cx="5283200" cy="3225800"/>
          </a:xfrm>
          <a:prstGeom prst="rect">
            <a:avLst/>
          </a:prstGeom>
          <a:effectLst>
            <a:outerShdw blurRad="90607" dist="124019" dir="5400000">
              <a:srgbClr val="CDD9ED">
                <a:alpha val="41000"/>
              </a:srgbClr>
            </a:outerShdw>
          </a:effectLst>
        </p:spPr>
      </p:pic>
      <p:sp>
        <p:nvSpPr>
          <p:cNvPr id="33" name="TextBox 33"/>
          <p:cNvSpPr txBox="1"/>
          <p:nvPr/>
        </p:nvSpPr>
        <p:spPr>
          <a:xfrm>
            <a:off x="12573000" y="7670800"/>
            <a:ext cx="4978400" cy="749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결론</a:t>
            </a:r>
            <a:r>
              <a:rPr lang="en-US" sz="4200" b="0" i="0" u="none" strike="noStrike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및</a:t>
            </a:r>
            <a:r>
              <a:rPr lang="en-US" sz="4200" b="0" i="0" u="none" strike="noStrike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향후</a:t>
            </a:r>
            <a:r>
              <a:rPr lang="en-US" sz="4200" b="0" i="0" u="none" strike="noStrike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4200" b="0" i="0" u="none" strike="noStrike">
                <a:solidFill>
                  <a:srgbClr val="000000"/>
                </a:solidFill>
                <a:ea typeface="S-Core Dream 5 Medium"/>
              </a:rPr>
              <a:t>계획</a:t>
            </a: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81200" y="5943600"/>
            <a:ext cx="749300" cy="7493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49400" y="5537200"/>
            <a:ext cx="1536700" cy="15367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14401800" y="5854700"/>
            <a:ext cx="1206500" cy="8382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830"/>
              </a:lnSpc>
            </a:pPr>
            <a:r>
              <a:rPr lang="en-US" sz="4700" b="0" i="0" u="none" strike="noStrike" spc="-200">
                <a:solidFill>
                  <a:srgbClr val="44CCE5"/>
                </a:solidFill>
                <a:latin typeface="S-Core Dream 7 ExtraBold"/>
              </a:rPr>
              <a:t>Ⅵ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172700"/>
            <a:ext cx="9144000" cy="1143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20700" y="381000"/>
            <a:ext cx="177419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6800" b="0" i="0" u="none" strike="noStrike">
                <a:solidFill>
                  <a:srgbClr val="3958E3"/>
                </a:solidFill>
                <a:ea typeface="S-Core Dream 7 ExtraBold"/>
              </a:rPr>
              <a:t>팀원소개</a:t>
            </a:r>
            <a:r>
              <a:rPr lang="en-US" sz="6800" b="0" i="0" u="none" strike="noStrike">
                <a:solidFill>
                  <a:srgbClr val="3958E3"/>
                </a:solidFill>
                <a:latin typeface="S-Core Dream 7 ExtraBold"/>
              </a:rPr>
              <a:t> </a:t>
            </a:r>
            <a:r>
              <a:rPr lang="ko-KR" sz="6800" b="0" i="0" u="none" strike="noStrike">
                <a:solidFill>
                  <a:srgbClr val="3958E3"/>
                </a:solidFill>
                <a:ea typeface="S-Core Dream 7 ExtraBold"/>
              </a:rPr>
              <a:t>및</a:t>
            </a:r>
            <a:r>
              <a:rPr lang="en-US" sz="6800" b="0" i="0" u="none" strike="noStrike">
                <a:solidFill>
                  <a:srgbClr val="3958E3"/>
                </a:solidFill>
                <a:latin typeface="S-Core Dream 7 ExtraBold"/>
              </a:rPr>
              <a:t> </a:t>
            </a:r>
            <a:r>
              <a:rPr lang="ko-KR" sz="6800" b="0" i="0" u="none" strike="noStrike">
                <a:solidFill>
                  <a:srgbClr val="3958E3"/>
                </a:solidFill>
                <a:ea typeface="S-Core Dream 7 ExtraBold"/>
              </a:rPr>
              <a:t>업무분담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600" y="2171700"/>
            <a:ext cx="7835900" cy="7061200"/>
          </a:xfrm>
          <a:prstGeom prst="rect">
            <a:avLst/>
          </a:prstGeom>
          <a:effectLst>
            <a:outerShdw blurRad="434780" dist="271672" dir="5400000">
              <a:srgbClr val="CDD9ED">
                <a:alpha val="41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3200" y="1485900"/>
            <a:ext cx="1435100" cy="14351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140200" y="1752600"/>
            <a:ext cx="11303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830"/>
              </a:lnSpc>
            </a:pPr>
            <a:r>
              <a:rPr lang="en-US" sz="4400" b="0" i="0" u="none" strike="noStrike" spc="-200">
                <a:solidFill>
                  <a:srgbClr val="44CCE5"/>
                </a:solidFill>
                <a:latin typeface="S-Core Dream 7 ExtraBold"/>
              </a:rPr>
              <a:t>Ⅰ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94900" y="2197100"/>
            <a:ext cx="7797800" cy="7137400"/>
          </a:xfrm>
          <a:prstGeom prst="rect">
            <a:avLst/>
          </a:prstGeom>
          <a:effectLst>
            <a:outerShdw blurRad="443159" dist="274277" dir="5400000">
              <a:srgbClr val="CDD9ED">
                <a:alpha val="41000"/>
              </a:srgbClr>
            </a:outerShdw>
          </a:effectLst>
        </p:spPr>
      </p:pic>
      <p:sp>
        <p:nvSpPr>
          <p:cNvPr id="11" name="TextBox 11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3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44500" y="1625600"/>
            <a:ext cx="1447800" cy="1447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3474700" y="1879600"/>
            <a:ext cx="787400" cy="774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830"/>
              </a:lnSpc>
            </a:pPr>
            <a:r>
              <a:rPr lang="en-US" sz="4400" b="0" i="0" u="none" strike="noStrike" spc="-200">
                <a:solidFill>
                  <a:srgbClr val="FFFFFF"/>
                </a:solidFill>
                <a:latin typeface="S-Core Dream 7 ExtraBold"/>
              </a:rPr>
              <a:t>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33800" y="3175000"/>
            <a:ext cx="21336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6000" b="0" i="0" u="none" strike="noStrike">
                <a:solidFill>
                  <a:srgbClr val="000000"/>
                </a:solidFill>
                <a:ea typeface="Pretendard Black"/>
              </a:rPr>
              <a:t>최봉규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15900" y="3175000"/>
            <a:ext cx="21336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ko-KR" sz="6000" b="0" i="0" u="none" strike="noStrike">
                <a:solidFill>
                  <a:srgbClr val="000000"/>
                </a:solidFill>
                <a:ea typeface="Pretendard Black"/>
              </a:rPr>
              <a:t>김성락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514600" y="4229100"/>
            <a:ext cx="4851400" cy="480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/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스프링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프레임워크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db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연결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로그인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알림기능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그룹기능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추가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배포</a:t>
            </a:r>
          </a:p>
          <a:p>
            <a:pPr lvl="0" algn="l">
              <a:lnSpc>
                <a:spcPct val="116199"/>
              </a:lnSpc>
            </a:pPr>
            <a:endParaRPr lang="ko-KR" sz="3000" b="0" i="0" u="none" strike="noStrike">
              <a:solidFill>
                <a:srgbClr val="000000"/>
              </a:solidFill>
              <a:ea typeface="Pretendard Regular"/>
            </a:endParaRPr>
          </a:p>
          <a:p>
            <a:pPr lvl="0" algn="l">
              <a:lnSpc>
                <a:spcPct val="116199"/>
              </a:lnSpc>
            </a:pPr>
            <a:endParaRPr lang="ko-KR" sz="3000" b="0" i="0" u="none" strike="noStrike">
              <a:solidFill>
                <a:srgbClr val="000000"/>
              </a:solidFill>
              <a:ea typeface="Pretendard Regula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042400" y="3263900"/>
            <a:ext cx="10287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ko-KR" sz="3000" b="0" i="0" u="none" strike="noStrike" dirty="0">
              <a:solidFill>
                <a:srgbClr val="C2C2C2"/>
              </a:solidFill>
              <a:ea typeface="Pretendard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042400" y="4470400"/>
            <a:ext cx="736600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ko-KR" sz="3000" b="0" i="0" u="none" strike="noStrike" dirty="0">
              <a:solidFill>
                <a:srgbClr val="C2C2C2"/>
              </a:solidFill>
              <a:ea typeface="Pretendard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15400" y="7315200"/>
            <a:ext cx="952500" cy="482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ko-KR" sz="2700" b="0" i="0" u="none" strike="noStrike" dirty="0">
              <a:solidFill>
                <a:srgbClr val="C2C2C2"/>
              </a:solidFill>
              <a:ea typeface="Pretendard Regular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823700" y="4279900"/>
            <a:ext cx="4851400" cy="3733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/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Gemini api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를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사용해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</a:t>
            </a:r>
          </a:p>
          <a:p>
            <a:pPr lvl="0" algn="l">
              <a:lnSpc>
                <a:spcPct val="116199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     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생성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폴더기능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친구추가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,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문제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공유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그룹문제토론</a:t>
            </a:r>
          </a:p>
          <a:p>
            <a:pPr marL="342900" lvl="0" indent="-342900" algn="l">
              <a:lnSpc>
                <a:spcPct val="116199"/>
              </a:lnSpc>
              <a:buClr>
                <a:srgbClr val="000000"/>
              </a:buClr>
              <a:buFont typeface="Arial"/>
              <a:buChar char="●"/>
            </a:pP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포인트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상점</a:t>
            </a:r>
            <a:r>
              <a:rPr lang="en-US" sz="3000" b="0" i="0" u="none" strike="noStrike">
                <a:solidFill>
                  <a:srgbClr val="000000"/>
                </a:solidFill>
                <a:latin typeface="Pretendard Regular"/>
              </a:rPr>
              <a:t>, </a:t>
            </a:r>
            <a:r>
              <a:rPr lang="ko-KR" sz="3000" b="0" i="0" u="none" strike="noStrike">
                <a:solidFill>
                  <a:srgbClr val="000000"/>
                </a:solidFill>
                <a:ea typeface="Pretendard Regular"/>
              </a:rPr>
              <a:t>통계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37600" y="8585200"/>
            <a:ext cx="12954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endParaRPr lang="ko-KR" sz="2800" b="0" i="0" u="none" strike="noStrike" dirty="0">
              <a:solidFill>
                <a:srgbClr val="C2C2C2"/>
              </a:solidFill>
              <a:ea typeface="Pretendard Regular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172700"/>
            <a:ext cx="9144000" cy="11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5400000">
            <a:off x="863600" y="5524500"/>
            <a:ext cx="7912100" cy="127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74700" y="4800600"/>
            <a:ext cx="4368800" cy="19812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44CCE5"/>
                </a:solidFill>
                <a:ea typeface="S-Core Dream 7 ExtraBold"/>
              </a:rPr>
              <a:t>문제</a:t>
            </a:r>
            <a:r>
              <a:rPr lang="en-US" sz="6000" b="0" i="0" u="none" strike="noStrike">
                <a:solidFill>
                  <a:srgbClr val="44CCE5"/>
                </a:solidFill>
                <a:latin typeface="S-Core Dream 7 ExtraBold"/>
              </a:rPr>
              <a:t> </a:t>
            </a:r>
            <a:r>
              <a:rPr lang="ko-KR" sz="6000" b="0" i="0" u="none" strike="noStrike">
                <a:solidFill>
                  <a:srgbClr val="44CCE5"/>
                </a:solidFill>
                <a:ea typeface="S-Core Dream 7 ExtraBold"/>
              </a:rPr>
              <a:t>정의</a:t>
            </a:r>
            <a:r>
              <a:rPr lang="en-US" sz="6000" b="0" i="0" u="none" strike="noStrike">
                <a:solidFill>
                  <a:srgbClr val="44CCE5"/>
                </a:solidFill>
                <a:latin typeface="S-Core Dream 7 ExtraBold"/>
              </a:rPr>
              <a:t> </a:t>
            </a:r>
          </a:p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44CCE5"/>
                </a:solidFill>
                <a:ea typeface="S-Core Dream 7 ExtraBold"/>
              </a:rPr>
              <a:t>및</a:t>
            </a:r>
            <a:r>
              <a:rPr lang="en-US" sz="6000" b="0" i="0" u="none" strike="noStrike">
                <a:solidFill>
                  <a:srgbClr val="44CCE5"/>
                </a:solidFill>
                <a:latin typeface="S-Core Dream 7 ExtraBold"/>
              </a:rPr>
              <a:t> </a:t>
            </a:r>
            <a:r>
              <a:rPr lang="ko-KR" sz="6000" b="0" i="0" u="none" strike="noStrike">
                <a:solidFill>
                  <a:srgbClr val="44CCE5"/>
                </a:solidFill>
                <a:ea typeface="S-Core Dream 7 ExtraBold"/>
              </a:rPr>
              <a:t>목표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2400" y="469900"/>
            <a:ext cx="16116300" cy="914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5100" b="1" i="0" u="none" strike="noStrike" spc="-400">
                <a:solidFill>
                  <a:srgbClr val="000000">
                    <a:alpha val="47843"/>
                  </a:srgbClr>
                </a:solidFill>
                <a:ea typeface="Pretendard Regular"/>
              </a:rPr>
              <a:t>동방에서</a:t>
            </a:r>
            <a:r>
              <a:rPr lang="en-US" sz="5100" b="1" i="0" u="none" strike="noStrike" spc="-40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5100" b="1" i="0" u="none" strike="noStrike" spc="-400">
                <a:solidFill>
                  <a:srgbClr val="000000">
                    <a:alpha val="47843"/>
                  </a:srgbClr>
                </a:solidFill>
                <a:ea typeface="Pretendard Regular"/>
              </a:rPr>
              <a:t>노트북</a:t>
            </a:r>
            <a:r>
              <a:rPr lang="en-US" sz="5100" b="1" i="0" u="none" strike="noStrike" spc="-400">
                <a:solidFill>
                  <a:srgbClr val="000000">
                    <a:alpha val="47843"/>
                  </a:srgbClr>
                </a:solidFill>
                <a:highlight>
                  <a:srgbClr val="FEEFC5"/>
                </a:highlight>
                <a:latin typeface="Pretendard Regular"/>
              </a:rPr>
              <a:t> </a:t>
            </a:r>
            <a:r>
              <a:rPr lang="ko-KR" sz="5100" b="1" i="0" u="none" strike="noStrike" spc="-400">
                <a:solidFill>
                  <a:srgbClr val="000000">
                    <a:alpha val="47843"/>
                  </a:srgbClr>
                </a:solidFill>
                <a:highlight>
                  <a:srgbClr val="FEEFC5"/>
                </a:highlight>
                <a:ea typeface="Pretendard Regular"/>
              </a:rPr>
              <a:t>하나에</a:t>
            </a:r>
            <a:r>
              <a:rPr lang="en-US" sz="5100" b="1" i="0" u="none" strike="noStrike" spc="-40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 </a:t>
            </a:r>
            <a:r>
              <a:rPr lang="ko-KR" sz="5100" b="0" i="0" u="none" strike="noStrike" spc="-400">
                <a:solidFill>
                  <a:srgbClr val="000000">
                    <a:alpha val="47843"/>
                  </a:srgbClr>
                </a:solidFill>
                <a:ea typeface="Pretendard Regular"/>
              </a:rPr>
              <a:t>문제풀던</a:t>
            </a:r>
            <a:r>
              <a:rPr lang="en-US" sz="5100" b="0" i="0" u="none" strike="noStrike" spc="-40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5100" b="0" i="0" u="none" strike="noStrike" spc="-400">
                <a:solidFill>
                  <a:srgbClr val="000000">
                    <a:alpha val="47843"/>
                  </a:srgbClr>
                </a:solidFill>
                <a:ea typeface="Pretendard Regular"/>
              </a:rPr>
              <a:t>우리들</a:t>
            </a:r>
            <a:r>
              <a:rPr lang="en-US" sz="5100" b="0" i="0" u="none" strike="noStrike" spc="-40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, </a:t>
            </a:r>
            <a:r>
              <a:rPr lang="ko-KR" sz="5100" b="0" i="0" u="none" strike="noStrike" spc="-400">
                <a:solidFill>
                  <a:srgbClr val="000000">
                    <a:alpha val="47843"/>
                  </a:srgbClr>
                </a:solidFill>
                <a:ea typeface="Pretendard Regular"/>
              </a:rPr>
              <a:t>이제</a:t>
            </a:r>
            <a:r>
              <a:rPr lang="en-US" sz="5100" b="0" i="0" u="none" strike="noStrike" spc="-40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5100" b="0" i="0" u="none" strike="noStrike" spc="-400">
                <a:solidFill>
                  <a:srgbClr val="000000">
                    <a:alpha val="47843"/>
                  </a:srgbClr>
                </a:solidFill>
                <a:ea typeface="Pretendard Regular"/>
              </a:rPr>
              <a:t>함께</a:t>
            </a:r>
            <a:r>
              <a:rPr lang="en-US" sz="5100" b="0" i="0" u="none" strike="noStrike" spc="-40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5100" b="0" i="0" u="none" strike="noStrike" spc="-400">
                <a:solidFill>
                  <a:srgbClr val="000000">
                    <a:alpha val="47843"/>
                  </a:srgbClr>
                </a:solidFill>
                <a:ea typeface="Pretendard Regular"/>
              </a:rPr>
              <a:t>풀고</a:t>
            </a:r>
            <a:r>
              <a:rPr lang="en-US" sz="5100" b="0" i="0" u="none" strike="noStrike" spc="-40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 </a:t>
            </a:r>
            <a:r>
              <a:rPr lang="ko-KR" sz="5100" b="0" i="0" u="none" strike="noStrike" spc="-400">
                <a:solidFill>
                  <a:srgbClr val="000000">
                    <a:alpha val="47843"/>
                  </a:srgbClr>
                </a:solidFill>
                <a:ea typeface="Pretendard Regular"/>
              </a:rPr>
              <a:t>관리까지</a:t>
            </a:r>
            <a:r>
              <a:rPr lang="en-US" sz="5100" b="0" i="0" u="none" strike="noStrike" spc="-400">
                <a:solidFill>
                  <a:srgbClr val="000000">
                    <a:alpha val="47843"/>
                  </a:srgbClr>
                </a:solidFill>
                <a:latin typeface="Pretendard Regular"/>
              </a:rPr>
              <a:t>!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900" y="1676400"/>
            <a:ext cx="8877300" cy="2971800"/>
          </a:xfrm>
          <a:prstGeom prst="rect">
            <a:avLst/>
          </a:prstGeom>
          <a:effectLst>
            <a:outerShdw blurRad="76686" dist="114095" dir="5400000">
              <a:srgbClr val="CDD9ED">
                <a:alpha val="41000"/>
              </a:srgbClr>
            </a:outerShdw>
          </a:effectLst>
        </p:spPr>
      </p:pic>
      <p:sp>
        <p:nvSpPr>
          <p:cNvPr id="10" name="TextBox 10"/>
          <p:cNvSpPr txBox="1"/>
          <p:nvPr/>
        </p:nvSpPr>
        <p:spPr>
          <a:xfrm>
            <a:off x="9156700" y="1930400"/>
            <a:ext cx="8178800" cy="533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5449"/>
              </a:lnSpc>
            </a:pPr>
            <a:r>
              <a:rPr lang="ko-KR" sz="3000" b="0" i="0" u="none" strike="noStrike" spc="-200">
                <a:solidFill>
                  <a:srgbClr val="3958E3"/>
                </a:solidFill>
                <a:ea typeface="Pretendard Bold"/>
              </a:rPr>
              <a:t>기존</a:t>
            </a:r>
            <a:r>
              <a:rPr lang="en-US" sz="3000" b="0" i="0" u="none" strike="noStrike" spc="-200">
                <a:solidFill>
                  <a:srgbClr val="3958E3"/>
                </a:solidFill>
                <a:latin typeface="Pretendard Bold"/>
              </a:rPr>
              <a:t> </a:t>
            </a:r>
            <a:r>
              <a:rPr lang="ko-KR" sz="3000" b="0" i="0" u="none" strike="noStrike" spc="-200">
                <a:solidFill>
                  <a:srgbClr val="3958E3"/>
                </a:solidFill>
                <a:ea typeface="Pretendard Bold"/>
              </a:rPr>
              <a:t>시스템의</a:t>
            </a:r>
            <a:r>
              <a:rPr lang="en-US" sz="3000" b="0" i="0" u="none" strike="noStrike" spc="-200">
                <a:solidFill>
                  <a:srgbClr val="3958E3"/>
                </a:solidFill>
                <a:latin typeface="Pretendard Bold"/>
              </a:rPr>
              <a:t> </a:t>
            </a:r>
            <a:r>
              <a:rPr lang="ko-KR" sz="3000" b="0" i="0" u="none" strike="noStrike" spc="-200">
                <a:solidFill>
                  <a:srgbClr val="3958E3"/>
                </a:solidFill>
                <a:ea typeface="Pretendard Bold"/>
              </a:rPr>
              <a:t>한계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34500" y="2641600"/>
            <a:ext cx="7835900" cy="154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LLM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의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경우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문제를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만든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후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찾기가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힘듦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친구와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공유가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힘들고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기록도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잘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남지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않음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  <a:p>
            <a:pPr lvl="0" algn="l">
              <a:lnSpc>
                <a:spcPct val="95449"/>
              </a:lnSpc>
            </a:pP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학습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결과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,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진도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,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정답률에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대한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피드백이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3300" b="0" i="0" u="none" strike="noStrike" spc="-300">
                <a:solidFill>
                  <a:srgbClr val="000000">
                    <a:alpha val="58824"/>
                  </a:srgbClr>
                </a:solidFill>
                <a:ea typeface="Pretendard Medium"/>
              </a:rPr>
              <a:t>부족</a:t>
            </a:r>
            <a:r>
              <a:rPr lang="en-US" sz="3300" b="0" i="0" u="none" strike="noStrike" spc="-3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.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4600" y="5765800"/>
            <a:ext cx="8877300" cy="3009900"/>
          </a:xfrm>
          <a:prstGeom prst="rect">
            <a:avLst/>
          </a:prstGeom>
          <a:effectLst>
            <a:outerShdw blurRad="78715" dist="115595" dir="5400000">
              <a:srgbClr val="CDD9ED">
                <a:alpha val="41000"/>
              </a:srgbClr>
            </a:outerShdw>
          </a:effectLst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9900" y="6870700"/>
            <a:ext cx="749300" cy="736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6500" y="1790700"/>
            <a:ext cx="3365500" cy="2857500"/>
          </a:xfrm>
          <a:prstGeom prst="rect">
            <a:avLst/>
          </a:prstGeom>
          <a:effectLst>
            <a:outerShdw blurRad="81610" dist="176159" dir="5400000">
              <a:srgbClr val="344096">
                <a:alpha val="16000"/>
              </a:srgbClr>
            </a:outerShdw>
          </a:effectLst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4500" y="3365500"/>
            <a:ext cx="558800" cy="939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1800" y="3187700"/>
            <a:ext cx="825500" cy="12573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16100" y="3479800"/>
            <a:ext cx="558800" cy="9398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0000" y="2628900"/>
            <a:ext cx="558800" cy="9398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271000" y="5816600"/>
            <a:ext cx="8178800" cy="5334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5449"/>
              </a:lnSpc>
            </a:pPr>
            <a:r>
              <a:rPr lang="ko-KR" sz="3000" b="0" i="0" u="none" strike="noStrike" spc="-200">
                <a:solidFill>
                  <a:srgbClr val="3958E3"/>
                </a:solidFill>
                <a:ea typeface="Pretendard Bold"/>
              </a:rPr>
              <a:t>개발</a:t>
            </a:r>
            <a:r>
              <a:rPr lang="en-US" sz="3000" b="0" i="0" u="none" strike="noStrike" spc="-200">
                <a:solidFill>
                  <a:srgbClr val="3958E3"/>
                </a:solidFill>
                <a:latin typeface="Pretendard Bold"/>
              </a:rPr>
              <a:t> </a:t>
            </a:r>
            <a:r>
              <a:rPr lang="ko-KR" sz="3000" b="0" i="0" u="none" strike="noStrike" spc="-200">
                <a:solidFill>
                  <a:srgbClr val="3958E3"/>
                </a:solidFill>
                <a:ea typeface="Pretendard Bold"/>
              </a:rPr>
              <a:t>목표</a:t>
            </a:r>
            <a:r>
              <a:rPr lang="en-US" sz="3000" b="0" i="0" u="none" strike="noStrike" spc="-200">
                <a:solidFill>
                  <a:srgbClr val="3958E3"/>
                </a:solidFill>
                <a:latin typeface="Pretendard Bold"/>
              </a:rPr>
              <a:t>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258300" y="6388100"/>
            <a:ext cx="8178800" cy="1663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5449"/>
              </a:lnSpc>
            </a:pP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PDF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를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기반으로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바로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문제를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풀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수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있는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환경</a:t>
            </a:r>
          </a:p>
          <a:p>
            <a:pPr lvl="0" algn="l">
              <a:lnSpc>
                <a:spcPct val="95449"/>
              </a:lnSpc>
            </a:pP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각자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개별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화면에서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동시에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문제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풀이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가능</a:t>
            </a:r>
          </a:p>
          <a:p>
            <a:pPr lvl="0" algn="l">
              <a:lnSpc>
                <a:spcPct val="95449"/>
              </a:lnSpc>
            </a:pP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풀이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결과가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기록으로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남는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학습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구조</a:t>
            </a:r>
          </a:p>
          <a:p>
            <a:pPr lvl="0" algn="l">
              <a:lnSpc>
                <a:spcPct val="95449"/>
              </a:lnSpc>
            </a:pP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-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학습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동기를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높이기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위한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포인트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경쟁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시스템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, 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함께풀기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 </a:t>
            </a:r>
            <a:r>
              <a:rPr lang="ko-KR" sz="2700" b="0" i="0" u="none" strike="noStrike" spc="-200">
                <a:solidFill>
                  <a:srgbClr val="000000">
                    <a:alpha val="58824"/>
                  </a:srgbClr>
                </a:solidFill>
                <a:ea typeface="Pretendard Medium"/>
              </a:rPr>
              <a:t>시스템</a:t>
            </a:r>
            <a:r>
              <a:rPr lang="en-US" sz="2700" b="0" i="0" u="none" strike="noStrike" spc="-200">
                <a:solidFill>
                  <a:srgbClr val="000000">
                    <a:alpha val="58824"/>
                  </a:srgbClr>
                </a:solidFill>
                <a:latin typeface="Pretendard Medium"/>
              </a:rPr>
              <a:t>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4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97000" y="3517900"/>
            <a:ext cx="558800" cy="9398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16100" y="3479800"/>
            <a:ext cx="558800" cy="9398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46300" y="3708400"/>
            <a:ext cx="533400" cy="9398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92400" y="3708400"/>
            <a:ext cx="558800" cy="9398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866900" y="2260600"/>
            <a:ext cx="406400" cy="3683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19200" y="2260600"/>
            <a:ext cx="406400" cy="3683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1500" y="3098800"/>
            <a:ext cx="381000" cy="3683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51000" y="2438400"/>
            <a:ext cx="241300" cy="3683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7600" y="2527300"/>
            <a:ext cx="304800" cy="2794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24200" y="3695700"/>
            <a:ext cx="165100" cy="2794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997200" y="3632200"/>
            <a:ext cx="165100" cy="2794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46300" y="3479800"/>
            <a:ext cx="228600" cy="2032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76500" y="3683000"/>
            <a:ext cx="228600" cy="2540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27200" y="3530600"/>
            <a:ext cx="228600" cy="2032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08100" y="3327400"/>
            <a:ext cx="228600" cy="2032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505200" y="3187700"/>
            <a:ext cx="292100" cy="2794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31100" y="6705600"/>
            <a:ext cx="1320800" cy="13335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35600" y="6680200"/>
            <a:ext cx="1320800" cy="13335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02400" y="5461000"/>
            <a:ext cx="1320800" cy="13335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172200" y="6299200"/>
            <a:ext cx="660400" cy="7239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5220000">
            <a:off x="7594600" y="6286500"/>
            <a:ext cx="749300" cy="7493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-8100000">
            <a:off x="6680200" y="7251700"/>
            <a:ext cx="1092200" cy="1092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19900" y="1917700"/>
            <a:ext cx="1130300" cy="1828800"/>
          </a:xfrm>
          <a:prstGeom prst="rect">
            <a:avLst/>
          </a:prstGeom>
        </p:spPr>
      </p:pic>
      <p:sp>
        <p:nvSpPr>
          <p:cNvPr id="45" name="TextBox 45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36400" y="2184400"/>
            <a:ext cx="114300" cy="4851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12000"/>
          </a:blip>
          <a:stretch>
            <a:fillRect/>
          </a:stretch>
        </p:blipFill>
        <p:spPr>
          <a:xfrm>
            <a:off x="8102600" y="3060700"/>
            <a:ext cx="7480300" cy="5575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5600" y="8178800"/>
            <a:ext cx="5194300" cy="901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0172700"/>
            <a:ext cx="9144000" cy="114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>
            <a:alphaModFix amt="20000"/>
          </a:blip>
          <a:stretch>
            <a:fillRect/>
          </a:stretch>
        </p:blipFill>
        <p:spPr>
          <a:xfrm rot="5400000">
            <a:off x="1231900" y="5130800"/>
            <a:ext cx="8191500" cy="127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8600" y="2057400"/>
            <a:ext cx="2654300" cy="2679700"/>
          </a:xfrm>
          <a:prstGeom prst="rect">
            <a:avLst/>
          </a:prstGeom>
          <a:effectLst>
            <a:outerShdw blurRad="69877" dist="163005" dir="5400000">
              <a:srgbClr val="344096">
                <a:alpha val="16000"/>
              </a:srgbClr>
            </a:outerShdw>
          </a:effectLst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5400" y="5626100"/>
            <a:ext cx="3479800" cy="3606800"/>
          </a:xfrm>
          <a:prstGeom prst="rect">
            <a:avLst/>
          </a:prstGeom>
          <a:effectLst>
            <a:outerShdw blurRad="105336" dist="133720" dir="5400000">
              <a:srgbClr val="CDD9ED">
                <a:alpha val="41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78700" y="5283200"/>
            <a:ext cx="1447800" cy="1447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56500" y="5461000"/>
            <a:ext cx="1092200" cy="1092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21900" y="5626100"/>
            <a:ext cx="3479800" cy="3606800"/>
          </a:xfrm>
          <a:prstGeom prst="rect">
            <a:avLst/>
          </a:prstGeom>
          <a:effectLst>
            <a:outerShdw blurRad="105336" dist="133720" dir="5400000">
              <a:srgbClr val="CDD9ED">
                <a:alpha val="41000"/>
              </a:srgbClr>
            </a:outerShdw>
          </a:effectLst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37900" y="5283200"/>
            <a:ext cx="1447800" cy="1447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15700" y="5461000"/>
            <a:ext cx="1092200" cy="1092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843000" y="5626100"/>
            <a:ext cx="3479800" cy="3606800"/>
          </a:xfrm>
          <a:prstGeom prst="rect">
            <a:avLst/>
          </a:prstGeom>
          <a:effectLst>
            <a:outerShdw blurRad="105336" dist="133720" dir="5400000">
              <a:srgbClr val="CDD9ED">
                <a:alpha val="41000"/>
              </a:srgbClr>
            </a:outerShdw>
          </a:effectLst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859000" y="5283200"/>
            <a:ext cx="1447800" cy="1447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036800" y="5461000"/>
            <a:ext cx="1092200" cy="10922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480800" y="5600700"/>
            <a:ext cx="762000" cy="762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59700" y="5664200"/>
            <a:ext cx="698500" cy="6985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17100" y="266700"/>
            <a:ext cx="4178300" cy="4178300"/>
          </a:xfrm>
          <a:prstGeom prst="rect">
            <a:avLst/>
          </a:prstGeom>
          <a:effectLst>
            <a:outerShdw blurRad="152048" dist="160657" dir="5400000">
              <a:srgbClr val="CDD9ED">
                <a:alpha val="41000"/>
              </a:srgbClr>
            </a:outerShdw>
          </a:effectLst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5400000">
            <a:off x="10020300" y="469900"/>
            <a:ext cx="3797300" cy="37973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19">
            <a:alphaModFix amt="95000"/>
          </a:blip>
          <a:stretch>
            <a:fillRect/>
          </a:stretch>
        </p:blipFill>
        <p:spPr>
          <a:xfrm>
            <a:off x="9537700" y="342900"/>
            <a:ext cx="1104900" cy="1104900"/>
          </a:xfrm>
          <a:prstGeom prst="rect">
            <a:avLst/>
          </a:prstGeom>
          <a:effectLst>
            <a:outerShdw blurRad="12227" dist="102280" dir="2700000">
              <a:srgbClr val="344096">
                <a:alpha val="17000"/>
              </a:srgbClr>
            </a:outerShdw>
          </a:effectLst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20">
            <a:alphaModFix amt="95000"/>
          </a:blip>
          <a:stretch>
            <a:fillRect/>
          </a:stretch>
        </p:blipFill>
        <p:spPr>
          <a:xfrm>
            <a:off x="13449300" y="1117600"/>
            <a:ext cx="1104900" cy="1104900"/>
          </a:xfrm>
          <a:prstGeom prst="rect">
            <a:avLst/>
          </a:prstGeom>
          <a:effectLst>
            <a:outerShdw blurRad="12227" dist="102280" dir="2700000">
              <a:srgbClr val="344096">
                <a:alpha val="17000"/>
              </a:srgbClr>
            </a:outerShdw>
          </a:effectLst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779000" y="673100"/>
            <a:ext cx="622300" cy="4699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614400" y="1282700"/>
            <a:ext cx="736600" cy="7366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10223500" y="1651000"/>
            <a:ext cx="3340100" cy="1231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83830"/>
              </a:lnSpc>
            </a:pPr>
            <a:r>
              <a:rPr lang="ko-KR" sz="4000" b="0" i="0" u="none" strike="noStrike">
                <a:solidFill>
                  <a:srgbClr val="FFFFFF"/>
                </a:solidFill>
                <a:ea typeface="S-Core Dream 7 ExtraBold"/>
              </a:rPr>
              <a:t>사용자</a:t>
            </a:r>
            <a:r>
              <a:rPr lang="en-US" sz="4000" b="0" i="0" u="none" strike="noStrike">
                <a:solidFill>
                  <a:srgbClr val="FFFFFF"/>
                </a:solidFill>
                <a:latin typeface="S-Core Dream 7 Extra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S-Core Dream 7 ExtraBold"/>
              </a:rPr>
              <a:t>중심</a:t>
            </a:r>
            <a:r>
              <a:rPr lang="en-US" sz="4000" b="0" i="0" u="none" strike="noStrike">
                <a:solidFill>
                  <a:srgbClr val="FFFFFF"/>
                </a:solidFill>
                <a:latin typeface="S-Core Dream 7 Extra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S-Core Dream 7 ExtraBold"/>
              </a:rPr>
              <a:t>핵심</a:t>
            </a:r>
            <a:r>
              <a:rPr lang="en-US" sz="4000" b="0" i="0" u="none" strike="noStrike">
                <a:solidFill>
                  <a:srgbClr val="FFFFFF"/>
                </a:solidFill>
                <a:latin typeface="S-Core Dream 7 ExtraBold"/>
              </a:rPr>
              <a:t> </a:t>
            </a:r>
            <a:r>
              <a:rPr lang="ko-KR" sz="4000" b="0" i="0" u="none" strike="noStrike">
                <a:solidFill>
                  <a:srgbClr val="FFFFFF"/>
                </a:solidFill>
                <a:ea typeface="S-Core Dream 7 ExtraBold"/>
              </a:rPr>
              <a:t>기능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23">
            <a:alphaModFix amt="54000"/>
          </a:blip>
          <a:stretch>
            <a:fillRect/>
          </a:stretch>
        </p:blipFill>
        <p:spPr>
          <a:xfrm rot="10800000">
            <a:off x="6731000" y="7467600"/>
            <a:ext cx="2768600" cy="127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24">
            <a:alphaModFix amt="54000"/>
          </a:blip>
          <a:stretch>
            <a:fillRect/>
          </a:stretch>
        </p:blipFill>
        <p:spPr>
          <a:xfrm rot="10800000">
            <a:off x="10515600" y="7467600"/>
            <a:ext cx="2768600" cy="127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23">
            <a:alphaModFix amt="54000"/>
          </a:blip>
          <a:stretch>
            <a:fillRect/>
          </a:stretch>
        </p:blipFill>
        <p:spPr>
          <a:xfrm rot="10800000">
            <a:off x="14211300" y="7442200"/>
            <a:ext cx="2768600" cy="127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6870700" y="7670800"/>
            <a:ext cx="3035300" cy="660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0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pdf </a:t>
            </a:r>
            <a:r>
              <a:rPr lang="ko-KR" sz="2000" b="0" i="0" u="none" strike="noStrike" spc="-200">
                <a:solidFill>
                  <a:srgbClr val="000000">
                    <a:alpha val="36078"/>
                  </a:srgbClr>
                </a:solidFill>
                <a:ea typeface="Pretendard Regular"/>
              </a:rPr>
              <a:t>기반</a:t>
            </a:r>
            <a:r>
              <a:rPr lang="en-US" sz="20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000" b="0" i="0" u="none" strike="noStrike" spc="-200">
                <a:solidFill>
                  <a:srgbClr val="000000">
                    <a:alpha val="36078"/>
                  </a:srgbClr>
                </a:solidFill>
                <a:ea typeface="Pretendard Regular"/>
              </a:rPr>
              <a:t>문제</a:t>
            </a:r>
            <a:r>
              <a:rPr lang="en-US" sz="20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000" b="0" i="0" u="none" strike="noStrike" spc="-200">
                <a:solidFill>
                  <a:srgbClr val="000000">
                    <a:alpha val="36078"/>
                  </a:srgbClr>
                </a:solidFill>
                <a:ea typeface="Pretendard Regular"/>
              </a:rPr>
              <a:t>생성</a:t>
            </a:r>
          </a:p>
          <a:p>
            <a:pPr lvl="0" algn="l">
              <a:lnSpc>
                <a:spcPct val="99600"/>
              </a:lnSpc>
            </a:pPr>
            <a:endParaRPr lang="ko-KR" sz="2000" b="0" i="0" u="none" strike="noStrike" spc="-200">
              <a:solidFill>
                <a:srgbClr val="000000">
                  <a:alpha val="36078"/>
                </a:srgbClr>
              </a:solidFill>
              <a:ea typeface="Pretendard Regular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464300" y="6870700"/>
            <a:ext cx="3289300" cy="4445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99600"/>
              </a:lnSpc>
            </a:pPr>
            <a:r>
              <a:rPr lang="ko-KR" sz="2500" b="0" i="0" u="none" strike="noStrike" spc="-200">
                <a:solidFill>
                  <a:srgbClr val="000000"/>
                </a:solidFill>
                <a:ea typeface="S-Core Dream 5 Medium"/>
              </a:rPr>
              <a:t>문제</a:t>
            </a:r>
            <a:r>
              <a:rPr lang="en-US" sz="2500" b="0" i="0" u="none" strike="noStrike" spc="-2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2500" b="0" i="0" u="none" strike="noStrike" spc="-200">
                <a:solidFill>
                  <a:srgbClr val="000000"/>
                </a:solidFill>
                <a:ea typeface="S-Core Dream 5 Medium"/>
              </a:rPr>
              <a:t>생성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464800" y="7670800"/>
            <a:ext cx="3035300" cy="965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0" i="0" u="none" strike="noStrike">
                <a:solidFill>
                  <a:srgbClr val="000000">
                    <a:alpha val="36078"/>
                  </a:srgbClr>
                </a:solidFill>
                <a:ea typeface="Pretendard Regular"/>
              </a:rPr>
              <a:t>원하는</a:t>
            </a:r>
            <a:r>
              <a:rPr lang="en-US" sz="2000" b="0" i="0" u="none" strike="noStrike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>
                    <a:alpha val="36078"/>
                  </a:srgbClr>
                </a:solidFill>
                <a:ea typeface="Pretendard Regular"/>
              </a:rPr>
              <a:t>친구와</a:t>
            </a:r>
            <a:r>
              <a:rPr lang="en-US" sz="2000" b="0" i="0" u="none" strike="noStrike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>
                    <a:alpha val="36078"/>
                  </a:srgbClr>
                </a:solidFill>
                <a:ea typeface="Pretendard Regular"/>
              </a:rPr>
              <a:t>그룹</a:t>
            </a:r>
            <a:r>
              <a:rPr lang="en-US" sz="2000" b="0" i="0" u="none" strike="noStrike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>
                    <a:alpha val="36078"/>
                  </a:srgbClr>
                </a:solidFill>
                <a:ea typeface="Pretendard Regular"/>
              </a:rPr>
              <a:t>생성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2000" b="0" i="0" u="none" strike="noStrike">
                <a:solidFill>
                  <a:srgbClr val="000000">
                    <a:alpha val="36078"/>
                  </a:srgbClr>
                </a:solidFill>
                <a:ea typeface="Pretendard Regular"/>
              </a:rPr>
              <a:t>문제</a:t>
            </a:r>
            <a:r>
              <a:rPr lang="en-US" sz="2000" b="0" i="0" u="none" strike="noStrike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>
                    <a:alpha val="36078"/>
                  </a:srgbClr>
                </a:solidFill>
                <a:ea typeface="Pretendard Regular"/>
              </a:rPr>
              <a:t>공유</a:t>
            </a:r>
            <a:r>
              <a:rPr lang="en-US" sz="2000" b="0" i="0" u="none" strike="noStrike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>
                    <a:alpha val="36078"/>
                  </a:srgbClr>
                </a:solidFill>
                <a:ea typeface="Pretendard Regular"/>
              </a:rPr>
              <a:t>후</a:t>
            </a:r>
            <a:r>
              <a:rPr lang="en-US" sz="2000" b="0" i="0" u="none" strike="noStrike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000" b="0" i="0" u="none" strike="noStrike">
                <a:solidFill>
                  <a:srgbClr val="000000">
                    <a:alpha val="36078"/>
                  </a:srgbClr>
                </a:solidFill>
                <a:ea typeface="Pretendard Regular"/>
              </a:rPr>
              <a:t>토론</a:t>
            </a:r>
          </a:p>
          <a:p>
            <a:pPr lvl="0" algn="l">
              <a:lnSpc>
                <a:spcPct val="99600"/>
              </a:lnSpc>
            </a:pPr>
            <a:endParaRPr lang="ko-KR" sz="2000" b="0" i="0" u="none" strike="noStrike">
              <a:solidFill>
                <a:srgbClr val="000000">
                  <a:alpha val="36078"/>
                </a:srgbClr>
              </a:solidFill>
              <a:ea typeface="Pretendard Regular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223500" y="6870700"/>
            <a:ext cx="3289300" cy="4445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99600"/>
              </a:lnSpc>
            </a:pPr>
            <a:r>
              <a:rPr lang="ko-KR" sz="2500" b="0" i="0" u="none" strike="noStrike" spc="-200">
                <a:solidFill>
                  <a:srgbClr val="000000"/>
                </a:solidFill>
                <a:ea typeface="S-Core Dream 5 Medium"/>
              </a:rPr>
              <a:t>스터디</a:t>
            </a:r>
            <a:r>
              <a:rPr lang="en-US" sz="2500" b="0" i="0" u="none" strike="noStrike" spc="-2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2500" b="0" i="0" u="none" strike="noStrike" spc="-200">
                <a:solidFill>
                  <a:srgbClr val="000000"/>
                </a:solidFill>
                <a:ea typeface="S-Core Dream 5 Medium"/>
              </a:rPr>
              <a:t>그룹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4097000" y="7670800"/>
            <a:ext cx="3022600" cy="838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700" b="0" i="0" u="none" strike="noStrike" spc="-100">
                <a:solidFill>
                  <a:srgbClr val="000000">
                    <a:alpha val="36078"/>
                  </a:srgbClr>
                </a:solidFill>
                <a:ea typeface="Pretendard Regular"/>
              </a:rPr>
              <a:t>총</a:t>
            </a:r>
            <a:r>
              <a:rPr lang="en-US" sz="1700" b="0" i="0" u="none" strike="noStrike" spc="-1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1700" b="0" i="0" u="none" strike="noStrike" spc="-100">
                <a:solidFill>
                  <a:srgbClr val="000000">
                    <a:alpha val="36078"/>
                  </a:srgbClr>
                </a:solidFill>
                <a:ea typeface="Pretendard Regular"/>
              </a:rPr>
              <a:t>풀이</a:t>
            </a:r>
            <a:r>
              <a:rPr lang="en-US" sz="1700" b="0" i="0" u="none" strike="noStrike" spc="-1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 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700" b="0" i="0" u="none" strike="noStrike" spc="-100">
                <a:solidFill>
                  <a:srgbClr val="000000">
                    <a:alpha val="36078"/>
                  </a:srgbClr>
                </a:solidFill>
                <a:ea typeface="Pretendard Regular"/>
              </a:rPr>
              <a:t>연속</a:t>
            </a:r>
            <a:r>
              <a:rPr lang="en-US" sz="1700" b="0" i="0" u="none" strike="noStrike" spc="-1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1700" b="0" i="0" u="none" strike="noStrike" spc="-100">
                <a:solidFill>
                  <a:srgbClr val="000000">
                    <a:alpha val="36078"/>
                  </a:srgbClr>
                </a:solidFill>
                <a:ea typeface="Pretendard Regular"/>
              </a:rPr>
              <a:t>풀이</a:t>
            </a:r>
            <a:r>
              <a:rPr lang="en-US" sz="1700" b="0" i="0" u="none" strike="noStrike" spc="-1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1700" b="0" i="0" u="none" strike="noStrike" spc="-100">
                <a:solidFill>
                  <a:srgbClr val="000000">
                    <a:alpha val="36078"/>
                  </a:srgbClr>
                </a:solidFill>
                <a:ea typeface="Pretendard Regular"/>
              </a:rPr>
              <a:t>일수</a:t>
            </a:r>
            <a:r>
              <a:rPr lang="en-US" sz="1700" b="0" i="0" u="none" strike="noStrike" spc="-1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 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sz="1700" b="0" i="0" u="none" strike="noStrike" spc="-100">
                <a:solidFill>
                  <a:srgbClr val="000000">
                    <a:alpha val="36078"/>
                  </a:srgbClr>
                </a:solidFill>
                <a:ea typeface="Pretendard Regular"/>
              </a:rPr>
              <a:t>과목별</a:t>
            </a:r>
            <a:r>
              <a:rPr lang="en-US" sz="1700" b="0" i="0" u="none" strike="noStrike" spc="-1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1700" b="0" i="0" u="none" strike="noStrike" spc="-100">
                <a:solidFill>
                  <a:srgbClr val="000000">
                    <a:alpha val="36078"/>
                  </a:srgbClr>
                </a:solidFill>
                <a:ea typeface="Pretendard Regular"/>
              </a:rPr>
              <a:t>정답률</a:t>
            </a:r>
            <a:r>
              <a:rPr lang="en-US" sz="1700" b="0" i="0" u="none" strike="noStrike" spc="-1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 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3944600" y="6870700"/>
            <a:ext cx="3289300" cy="4445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ctr">
              <a:lnSpc>
                <a:spcPct val="99600"/>
              </a:lnSpc>
            </a:pPr>
            <a:r>
              <a:rPr lang="ko-KR" sz="2500" b="0" i="0" u="none" strike="noStrike" spc="-200">
                <a:solidFill>
                  <a:srgbClr val="000000"/>
                </a:solidFill>
                <a:ea typeface="S-Core Dream 5 Medium"/>
              </a:rPr>
              <a:t>문제</a:t>
            </a:r>
            <a:r>
              <a:rPr lang="en-US" sz="2500" b="0" i="0" u="none" strike="noStrike" spc="-2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2500" b="0" i="0" u="none" strike="noStrike" spc="-200">
                <a:solidFill>
                  <a:srgbClr val="000000"/>
                </a:solidFill>
                <a:ea typeface="S-Core Dream 5 Medium"/>
              </a:rPr>
              <a:t>관리</a:t>
            </a:r>
            <a:r>
              <a:rPr lang="en-US" sz="2500" b="0" i="0" u="none" strike="noStrike" spc="-200">
                <a:solidFill>
                  <a:srgbClr val="000000"/>
                </a:solidFill>
                <a:latin typeface="S-Core Dream 5 Medium"/>
              </a:rPr>
              <a:t> 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41300" y="5499100"/>
            <a:ext cx="5473700" cy="1066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44CCE5"/>
                </a:solidFill>
                <a:ea typeface="S-Core Dream 7 ExtraBold"/>
              </a:rPr>
              <a:t>주요</a:t>
            </a:r>
            <a:r>
              <a:rPr lang="en-US" sz="6000" b="0" i="0" u="none" strike="noStrike">
                <a:solidFill>
                  <a:srgbClr val="44CCE5"/>
                </a:solidFill>
                <a:latin typeface="S-Core Dream 7 ExtraBold"/>
              </a:rPr>
              <a:t> </a:t>
            </a:r>
            <a:r>
              <a:rPr lang="ko-KR" sz="6000" b="0" i="0" u="none" strike="noStrike">
                <a:solidFill>
                  <a:srgbClr val="44CCE5"/>
                </a:solidFill>
                <a:ea typeface="S-Core Dream 7 ExtraBold"/>
              </a:rPr>
              <a:t>기능</a:t>
            </a:r>
            <a:r>
              <a:rPr lang="en-US" sz="6000" b="0" i="0" u="none" strike="noStrike">
                <a:solidFill>
                  <a:srgbClr val="44CCE5"/>
                </a:solidFill>
                <a:latin typeface="S-Core Dream 7 ExtraBold"/>
              </a:rPr>
              <a:t> </a:t>
            </a:r>
            <a:r>
              <a:rPr lang="ko-KR" sz="6000" b="0" i="0" u="none" strike="noStrike">
                <a:solidFill>
                  <a:srgbClr val="44CCE5"/>
                </a:solidFill>
                <a:ea typeface="S-Core Dream 7 ExtraBold"/>
              </a:rPr>
              <a:t>요약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7</a:t>
            </a: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5278100" y="5626100"/>
            <a:ext cx="711200" cy="7112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 rot="5400000">
            <a:off x="5054600" y="5130800"/>
            <a:ext cx="8191500" cy="12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1333500" y="5143500"/>
            <a:ext cx="15621000" cy="12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0172700"/>
            <a:ext cx="9144000" cy="114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7800" y="2527300"/>
            <a:ext cx="5245100" cy="5232400"/>
          </a:xfrm>
          <a:prstGeom prst="rect">
            <a:avLst/>
          </a:prstGeom>
          <a:effectLst>
            <a:outerShdw blurRad="239160" dist="201490" dir="5400000">
              <a:srgbClr val="CDD9ED">
                <a:alpha val="41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69100" y="2768600"/>
            <a:ext cx="4762500" cy="4762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26400" y="2032000"/>
            <a:ext cx="2260600" cy="2019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33500" y="800100"/>
            <a:ext cx="1346200" cy="1346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595600" y="800100"/>
            <a:ext cx="1346200" cy="1346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33500" y="5295900"/>
            <a:ext cx="1295400" cy="1295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659100" y="5295900"/>
            <a:ext cx="1295400" cy="12954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7175500" y="4724400"/>
            <a:ext cx="39878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6800" b="0" i="0" u="none" strike="noStrike">
                <a:solidFill>
                  <a:srgbClr val="FFFFFF"/>
                </a:solidFill>
                <a:ea typeface="S-Core Dream 7 ExtraBold"/>
              </a:rPr>
              <a:t>기술</a:t>
            </a:r>
            <a:r>
              <a:rPr lang="en-US" sz="6800" b="0" i="0" u="none" strike="noStrike">
                <a:solidFill>
                  <a:srgbClr val="FFFFFF"/>
                </a:solidFill>
                <a:latin typeface="S-Core Dream 7 ExtraBold"/>
              </a:rPr>
              <a:t> </a:t>
            </a:r>
            <a:r>
              <a:rPr lang="ko-KR" sz="6800" b="0" i="0" u="none" strike="noStrike">
                <a:solidFill>
                  <a:srgbClr val="FFFFFF"/>
                </a:solidFill>
                <a:ea typeface="S-Core Dream 7 ExtraBold"/>
              </a:rPr>
              <a:t>스텍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33500" y="3251200"/>
            <a:ext cx="5130800" cy="190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0" b="0" i="0" u="none" strike="noStrike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Thymeleaf </a:t>
            </a:r>
            <a:r>
              <a:rPr lang="ko-KR" sz="3000" b="0" i="0" u="none" strike="noStrike">
                <a:solidFill>
                  <a:srgbClr val="000000">
                    <a:alpha val="36078"/>
                  </a:srgbClr>
                </a:solidFill>
                <a:ea typeface="Pretendard Regular"/>
              </a:rPr>
              <a:t>템플릿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0" b="0" i="0" u="none" strike="noStrike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CSS/JS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0" b="0" i="0" u="none" strike="noStrike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app.js</a:t>
            </a:r>
          </a:p>
          <a:p>
            <a:pPr lvl="0" algn="l">
              <a:lnSpc>
                <a:spcPct val="99600"/>
              </a:lnSpc>
            </a:pPr>
            <a:endParaRPr lang="en-US" sz="3000" b="0" i="0" u="none" strike="noStrike">
              <a:solidFill>
                <a:srgbClr val="000000">
                  <a:alpha val="36078"/>
                </a:srgbClr>
              </a:solidFill>
              <a:latin typeface="Pretendard Regula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33500" y="2489200"/>
            <a:ext cx="51181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프론트엔드</a:t>
            </a:r>
            <a:r>
              <a:rPr lang="en-US" sz="2700" b="0" i="0" u="none" strike="noStrike" spc="-2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구성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33500" y="7835900"/>
            <a:ext cx="51308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MySQL</a:t>
            </a:r>
          </a:p>
          <a:p>
            <a:pPr lvl="0" algn="l">
              <a:lnSpc>
                <a:spcPct val="99600"/>
              </a:lnSpc>
            </a:pPr>
            <a:endParaRPr lang="en-US" sz="3000" b="0" i="0" u="none" strike="noStrike" spc="-200">
              <a:solidFill>
                <a:srgbClr val="000000">
                  <a:alpha val="36078"/>
                </a:srgbClr>
              </a:solidFill>
              <a:latin typeface="Pretendard Regular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333500" y="7112000"/>
            <a:ext cx="51181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데이터베이스</a:t>
            </a:r>
            <a:r>
              <a:rPr lang="en-US" sz="2700" b="0" i="0" u="none" strike="noStrike" spc="-2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설계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77900" y="3060700"/>
            <a:ext cx="51308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Java 21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Spring boot (MVC, JPA)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823700" y="2489200"/>
            <a:ext cx="51181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백엔드</a:t>
            </a:r>
            <a:r>
              <a:rPr lang="en-US" sz="2700" b="0" i="0" u="none" strike="noStrike" spc="-2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구성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677900" y="7797800"/>
            <a:ext cx="5130800" cy="1447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Github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Railway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30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Render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823700" y="7112000"/>
            <a:ext cx="51181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배포</a:t>
            </a:r>
            <a:r>
              <a:rPr lang="en-US" sz="2700" b="0" i="0" u="none" strike="noStrike" spc="-2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환경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5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172700"/>
            <a:ext cx="9144000" cy="11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282700"/>
            <a:ext cx="6375400" cy="7023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282700"/>
            <a:ext cx="2324100" cy="2324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11722100" y="6070600"/>
            <a:ext cx="1752600" cy="635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-9120000">
            <a:off x="9931400" y="4953000"/>
            <a:ext cx="3111500" cy="635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-1920000">
            <a:off x="12090400" y="4902200"/>
            <a:ext cx="2997200" cy="635000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99700" y="7073900"/>
            <a:ext cx="4876800" cy="2616200"/>
          </a:xfrm>
          <a:prstGeom prst="rect">
            <a:avLst/>
          </a:prstGeom>
          <a:effectLst>
            <a:outerShdw blurRad="59515" dist="100513" dir="5400000">
              <a:srgbClr val="CDD9ED">
                <a:alpha val="41000"/>
              </a:srgbClr>
            </a:outerShdw>
          </a:effectLst>
        </p:spPr>
      </p:pic>
      <p:sp>
        <p:nvSpPr>
          <p:cNvPr id="13" name="TextBox 13"/>
          <p:cNvSpPr txBox="1"/>
          <p:nvPr/>
        </p:nvSpPr>
        <p:spPr>
          <a:xfrm>
            <a:off x="10642600" y="8102600"/>
            <a:ext cx="5118100" cy="1892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spc="-200">
                <a:solidFill>
                  <a:srgbClr val="000000">
                    <a:alpha val="50196"/>
                  </a:srgbClr>
                </a:solidFill>
                <a:latin typeface="Pretendard Regular"/>
              </a:rPr>
              <a:t>group_invite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spc="-200">
                <a:solidFill>
                  <a:srgbClr val="000000">
                    <a:alpha val="50196"/>
                  </a:srgbClr>
                </a:solidFill>
                <a:latin typeface="Pretendard Regular"/>
              </a:rPr>
              <a:t>group_member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spc="-200">
                <a:solidFill>
                  <a:srgbClr val="000000">
                    <a:alpha val="50196"/>
                  </a:srgbClr>
                </a:solidFill>
                <a:latin typeface="Pretendard Regular"/>
              </a:rPr>
              <a:t>group_shared_question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spc="-200">
                <a:solidFill>
                  <a:srgbClr val="000000">
                    <a:alpha val="50196"/>
                  </a:srgbClr>
                </a:solidFill>
                <a:latin typeface="Pretendard Regular"/>
              </a:rPr>
              <a:t>question_discussion</a:t>
            </a:r>
          </a:p>
          <a:p>
            <a:pPr lvl="1" algn="l">
              <a:lnSpc>
                <a:spcPct val="99600"/>
              </a:lnSpc>
            </a:pPr>
            <a:endParaRPr lang="en-US" sz="2400" b="0" i="0" u="none" strike="noStrike" spc="-200">
              <a:solidFill>
                <a:srgbClr val="000000">
                  <a:alpha val="50196"/>
                </a:srgbClr>
              </a:solidFill>
              <a:latin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642600" y="7378700"/>
            <a:ext cx="51181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그룹</a:t>
            </a:r>
            <a:r>
              <a:rPr lang="en-US" sz="2700" b="0" i="0" u="none" strike="noStrike" spc="-2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관리</a:t>
            </a:r>
            <a:r>
              <a:rPr lang="en-US" sz="2700" b="0" i="0" u="none" strike="noStrike" spc="-2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테이블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13600" y="1828800"/>
            <a:ext cx="4876800" cy="2616200"/>
          </a:xfrm>
          <a:prstGeom prst="rect">
            <a:avLst/>
          </a:prstGeom>
          <a:effectLst>
            <a:outerShdw blurRad="59515" dist="100513" dir="5400000">
              <a:srgbClr val="CDD9ED">
                <a:alpha val="41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7581900" y="2730500"/>
            <a:ext cx="5118100" cy="152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1" i="0" u="none" strike="noStrike" spc="-200">
                <a:solidFill>
                  <a:srgbClr val="000000">
                    <a:alpha val="50196"/>
                  </a:srgbClr>
                </a:solidFill>
                <a:latin typeface="Pretendard Regular"/>
              </a:rPr>
              <a:t>site_user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1" i="0" u="none" strike="noStrike" spc="-200">
                <a:solidFill>
                  <a:srgbClr val="000000">
                    <a:alpha val="50196"/>
                  </a:srgbClr>
                </a:solidFill>
                <a:latin typeface="Pretendard Regular"/>
              </a:rPr>
              <a:t>friend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1" i="0" u="none" strike="noStrike" spc="-200">
                <a:solidFill>
                  <a:srgbClr val="000000">
                    <a:alpha val="50196"/>
                  </a:srgbClr>
                </a:solidFill>
                <a:latin typeface="Pretendard Regular"/>
              </a:rPr>
              <a:t>friend_request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1" i="0" u="none" strike="noStrike" spc="-200">
                <a:solidFill>
                  <a:srgbClr val="000000">
                    <a:alpha val="50196"/>
                  </a:srgbClr>
                </a:solidFill>
                <a:latin typeface="Pretendard Regular"/>
              </a:rPr>
              <a:t>friend_share_request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56500" y="1968500"/>
            <a:ext cx="51181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유저</a:t>
            </a:r>
            <a:r>
              <a:rPr lang="en-US" sz="2700" b="0" i="0" u="none" strike="noStrike" spc="-200">
                <a:solidFill>
                  <a:srgbClr val="000000"/>
                </a:solidFill>
                <a:latin typeface="S-Core Dream 5 Medium"/>
              </a:rPr>
              <a:t> - </a:t>
            </a: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친구관리</a:t>
            </a:r>
            <a:r>
              <a:rPr lang="en-US" sz="2700" b="0" i="0" u="none" strike="noStrike" spc="-2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테이블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20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57200" y="1841500"/>
            <a:ext cx="4876800" cy="2616200"/>
          </a:xfrm>
          <a:prstGeom prst="rect">
            <a:avLst/>
          </a:prstGeom>
          <a:effectLst>
            <a:outerShdw blurRad="59515" dist="100513" dir="5400000">
              <a:srgbClr val="CDD9ED">
                <a:alpha val="41000"/>
              </a:srgbClr>
            </a:outerShdw>
          </a:effectLst>
        </p:spPr>
      </p:pic>
      <p:sp>
        <p:nvSpPr>
          <p:cNvPr id="21" name="TextBox 21"/>
          <p:cNvSpPr txBox="1"/>
          <p:nvPr/>
        </p:nvSpPr>
        <p:spPr>
          <a:xfrm>
            <a:off x="13360400" y="2120900"/>
            <a:ext cx="51181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문제</a:t>
            </a:r>
            <a:r>
              <a:rPr lang="en-US" sz="2700" b="0" i="0" u="none" strike="noStrike" spc="-2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관리</a:t>
            </a:r>
            <a:r>
              <a:rPr lang="en-US" sz="2700" b="0" i="0" u="none" strike="noStrike" spc="-2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2700" b="0" i="0" u="none" strike="noStrike" spc="-200">
                <a:solidFill>
                  <a:srgbClr val="000000"/>
                </a:solidFill>
                <a:ea typeface="S-Core Dream 5 Medium"/>
              </a:rPr>
              <a:t>테이블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60400" y="2908300"/>
            <a:ext cx="5118100" cy="1524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spc="-200">
                <a:solidFill>
                  <a:srgbClr val="000000">
                    <a:alpha val="50196"/>
                  </a:srgbClr>
                </a:solidFill>
                <a:latin typeface="Pretendard Regular"/>
              </a:rPr>
              <a:t>document_file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spc="-200">
                <a:solidFill>
                  <a:srgbClr val="000000">
                    <a:alpha val="50196"/>
                  </a:srgbClr>
                </a:solidFill>
                <a:latin typeface="Pretendard Regular"/>
              </a:rPr>
              <a:t>folder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400" b="0" i="0" u="none" strike="noStrike" spc="-200">
                <a:solidFill>
                  <a:srgbClr val="000000">
                    <a:alpha val="50196"/>
                  </a:srgbClr>
                </a:solidFill>
                <a:latin typeface="Pretendard Regular"/>
              </a:rPr>
              <a:t>quiz_question</a:t>
            </a:r>
          </a:p>
          <a:p>
            <a:pPr lvl="0" algn="l">
              <a:lnSpc>
                <a:spcPct val="99600"/>
              </a:lnSpc>
            </a:pPr>
            <a:endParaRPr lang="en-US" sz="2400" b="0" i="0" u="none" strike="noStrike" spc="-200">
              <a:solidFill>
                <a:srgbClr val="000000">
                  <a:alpha val="50196"/>
                </a:srgbClr>
              </a:solidFill>
              <a:latin typeface="Pretendard Regula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172700"/>
            <a:ext cx="9144000" cy="11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9900" y="2044700"/>
            <a:ext cx="4203700" cy="732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235200"/>
            <a:ext cx="5829300" cy="6959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900" y="2019300"/>
            <a:ext cx="5473700" cy="69469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92100" y="279400"/>
            <a:ext cx="17741900" cy="1206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6800" b="0" i="0" u="none" strike="noStrike">
                <a:solidFill>
                  <a:srgbClr val="3958E3"/>
                </a:solidFill>
                <a:ea typeface="S-Core Dream 7 ExtraBold"/>
              </a:rPr>
              <a:t>주요</a:t>
            </a:r>
            <a:r>
              <a:rPr lang="en-US" sz="6800" b="0" i="0" u="none" strike="noStrike">
                <a:solidFill>
                  <a:srgbClr val="3958E3"/>
                </a:solidFill>
                <a:latin typeface="S-Core Dream 7 ExtraBold"/>
              </a:rPr>
              <a:t> </a:t>
            </a:r>
            <a:r>
              <a:rPr lang="ko-KR" sz="6800" b="0" i="0" u="none" strike="noStrike">
                <a:solidFill>
                  <a:srgbClr val="3958E3"/>
                </a:solidFill>
                <a:ea typeface="S-Core Dream 7 ExtraBold"/>
              </a:rPr>
              <a:t>아키텍처</a:t>
            </a:r>
            <a:r>
              <a:rPr lang="en-US" sz="6800" b="0" i="0" u="none" strike="noStrike">
                <a:solidFill>
                  <a:srgbClr val="3958E3"/>
                </a:solidFill>
                <a:latin typeface="S-Core Dream 7 ExtraBold"/>
              </a:rPr>
              <a:t> </a:t>
            </a:r>
            <a:r>
              <a:rPr lang="ko-KR" sz="6800" b="0" i="0" u="none" strike="noStrike">
                <a:solidFill>
                  <a:srgbClr val="3958E3"/>
                </a:solidFill>
                <a:ea typeface="S-Core Dream 7 ExtraBold"/>
              </a:rPr>
              <a:t>구조도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36600" y="9474200"/>
            <a:ext cx="49403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S-Core Dream 5 Medium"/>
              </a:rPr>
              <a:t>로그인</a:t>
            </a:r>
            <a:r>
              <a:rPr lang="en-US" sz="3000" b="0" i="0" u="none" strike="noStrike">
                <a:solidFill>
                  <a:srgbClr val="000000"/>
                </a:solidFill>
                <a:latin typeface="S-Core Dream 5 Medium"/>
              </a:rPr>
              <a:t>/</a:t>
            </a:r>
            <a:r>
              <a:rPr lang="ko-KR" sz="3000" b="0" i="0" u="none" strike="noStrike">
                <a:solidFill>
                  <a:srgbClr val="000000"/>
                </a:solidFill>
                <a:ea typeface="S-Core Dream 5 Medium"/>
              </a:rPr>
              <a:t>회원가입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16700" y="9474200"/>
            <a:ext cx="49403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3000" b="0" i="0" u="none" strike="noStrike">
                <a:solidFill>
                  <a:srgbClr val="000000"/>
                </a:solidFill>
                <a:latin typeface="S-Core Dream 5 Medium"/>
              </a:rPr>
              <a:t>PDF </a:t>
            </a:r>
            <a:r>
              <a:rPr lang="ko-KR" sz="3000" b="0" i="0" u="none" strike="noStrike">
                <a:solidFill>
                  <a:srgbClr val="000000"/>
                </a:solidFill>
                <a:ea typeface="S-Core Dream 5 Medium"/>
              </a:rPr>
              <a:t>업로드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82500" y="9474200"/>
            <a:ext cx="4940300" cy="533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3000" b="0" i="0" u="none" strike="noStrike">
                <a:solidFill>
                  <a:srgbClr val="000000"/>
                </a:solidFill>
                <a:ea typeface="S-Core Dream 5 Medium"/>
              </a:rPr>
              <a:t>문제</a:t>
            </a:r>
            <a:r>
              <a:rPr lang="en-US" sz="3000" b="0" i="0" u="none" strike="noStrike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3000" b="0" i="0" u="none" strike="noStrike">
                <a:solidFill>
                  <a:srgbClr val="000000"/>
                </a:solidFill>
                <a:ea typeface="S-Core Dream 5 Medium"/>
              </a:rPr>
              <a:t>생성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172700"/>
            <a:ext cx="9144000" cy="11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71800" y="1308100"/>
            <a:ext cx="2082800" cy="195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200" y="825500"/>
            <a:ext cx="6083300" cy="2438400"/>
          </a:xfrm>
          <a:prstGeom prst="rect">
            <a:avLst/>
          </a:prstGeom>
          <a:effectLst>
            <a:outerShdw blurRad="51677" dist="93661" dir="5400000">
              <a:srgbClr val="CDD9ED">
                <a:alpha val="41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00" y="1574800"/>
            <a:ext cx="6083300" cy="3340100"/>
          </a:xfrm>
          <a:prstGeom prst="rect">
            <a:avLst/>
          </a:prstGeom>
          <a:effectLst>
            <a:outerShdw blurRad="97480" dist="128637" dir="5400000">
              <a:srgbClr val="CDD9ED">
                <a:alpha val="41000"/>
              </a:srgbClr>
            </a:outerShdw>
          </a:effectLst>
        </p:spPr>
      </p:pic>
      <p:sp>
        <p:nvSpPr>
          <p:cNvPr id="9" name="TextBox 9"/>
          <p:cNvSpPr txBox="1"/>
          <p:nvPr/>
        </p:nvSpPr>
        <p:spPr>
          <a:xfrm>
            <a:off x="990600" y="952500"/>
            <a:ext cx="5334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800" b="0" i="0" u="none" strike="noStrike" spc="-200">
                <a:solidFill>
                  <a:srgbClr val="FFFFFF"/>
                </a:solidFill>
                <a:ea typeface="S-Core Dream 5 Medium"/>
              </a:rPr>
              <a:t>기획</a:t>
            </a:r>
            <a:r>
              <a:rPr lang="en-US" sz="2800" b="0" i="0" u="none" strike="noStrike" spc="-200">
                <a:solidFill>
                  <a:srgbClr val="FFFFFF"/>
                </a:solidFill>
                <a:latin typeface="S-Core Dream 5 Medium"/>
              </a:rPr>
              <a:t> </a:t>
            </a:r>
            <a:r>
              <a:rPr lang="ko-KR" sz="2800" b="0" i="0" u="none" strike="noStrike" spc="-200">
                <a:solidFill>
                  <a:srgbClr val="FFFFFF"/>
                </a:solidFill>
                <a:ea typeface="S-Core Dream 5 Medium"/>
              </a:rPr>
              <a:t>및</a:t>
            </a:r>
            <a:r>
              <a:rPr lang="en-US" sz="2800" b="0" i="0" u="none" strike="noStrike" spc="-200">
                <a:solidFill>
                  <a:srgbClr val="FFFFFF"/>
                </a:solidFill>
                <a:latin typeface="S-Core Dream 5 Medium"/>
              </a:rPr>
              <a:t> </a:t>
            </a:r>
            <a:r>
              <a:rPr lang="ko-KR" sz="2800" b="0" i="0" u="none" strike="noStrike" spc="-200">
                <a:solidFill>
                  <a:srgbClr val="FFFFFF"/>
                </a:solidFill>
                <a:ea typeface="S-Core Dream 5 Medium"/>
              </a:rPr>
              <a:t>설계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0600" y="2222500"/>
            <a:ext cx="5308600" cy="2120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전체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시스템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구조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(Spring Boot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기반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MVC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아키텍처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)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설계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 spc="-100">
              <a:solidFill>
                <a:srgbClr val="000000"/>
              </a:solidFill>
              <a:ea typeface="S-Core Dream 5 Medium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사용자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·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문서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·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문제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·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그룹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중심의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데이터베이스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스키마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설계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 spc="-100">
              <a:solidFill>
                <a:srgbClr val="000000"/>
              </a:solidFill>
              <a:ea typeface="S-Core Dream 5 Medium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학습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흐름을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고려한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UI/UX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구조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설계</a:t>
            </a: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(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문제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풀이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→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공유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→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통계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)</a:t>
            </a:r>
          </a:p>
          <a:p>
            <a:pPr lvl="0" algn="l">
              <a:lnSpc>
                <a:spcPct val="99600"/>
              </a:lnSpc>
            </a:pPr>
            <a:endParaRPr lang="en-US" sz="1700" b="0" i="0" u="none" strike="noStrike" spc="-100">
              <a:solidFill>
                <a:srgbClr val="000000"/>
              </a:solidFill>
              <a:latin typeface="S-Core Dream 5 Medium"/>
            </a:endParaRP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Git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브랜치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(main, front, test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등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)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기반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개발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흐름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계획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525500" y="3136900"/>
            <a:ext cx="4368800" cy="10668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ko-KR" sz="6000" b="0" i="0" u="none" strike="noStrike">
                <a:solidFill>
                  <a:srgbClr val="44CCE5"/>
                </a:solidFill>
                <a:ea typeface="S-Core Dream 7 ExtraBold"/>
              </a:rPr>
              <a:t>개발</a:t>
            </a:r>
            <a:r>
              <a:rPr lang="en-US" sz="6000" b="0" i="0" u="none" strike="noStrike">
                <a:solidFill>
                  <a:srgbClr val="44CCE5"/>
                </a:solidFill>
                <a:latin typeface="S-Core Dream 7 ExtraBold"/>
              </a:rPr>
              <a:t> </a:t>
            </a:r>
            <a:r>
              <a:rPr lang="ko-KR" sz="6000" b="0" i="0" u="none" strike="noStrike">
                <a:solidFill>
                  <a:srgbClr val="44CCE5"/>
                </a:solidFill>
                <a:ea typeface="S-Core Dream 7 ExtraBold"/>
              </a:rPr>
              <a:t>과정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80900" y="4254500"/>
            <a:ext cx="7785100" cy="4279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4200" y="5346700"/>
            <a:ext cx="6083300" cy="2438400"/>
          </a:xfrm>
          <a:prstGeom prst="rect">
            <a:avLst/>
          </a:prstGeom>
          <a:effectLst>
            <a:outerShdw blurRad="51677" dist="93661" dir="5400000">
              <a:srgbClr val="CDD9ED">
                <a:alpha val="41000"/>
              </a:srgbClr>
            </a:outerShdw>
          </a:effectLst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00" y="6096000"/>
            <a:ext cx="6083300" cy="3340100"/>
          </a:xfrm>
          <a:prstGeom prst="rect">
            <a:avLst/>
          </a:prstGeom>
          <a:effectLst>
            <a:outerShdw blurRad="97480" dist="128637" dir="5400000">
              <a:srgbClr val="CDD9ED">
                <a:alpha val="41000"/>
              </a:srgbClr>
            </a:outerShdw>
          </a:effectLst>
        </p:spPr>
      </p:pic>
      <p:sp>
        <p:nvSpPr>
          <p:cNvPr id="15" name="TextBox 15"/>
          <p:cNvSpPr txBox="1"/>
          <p:nvPr/>
        </p:nvSpPr>
        <p:spPr>
          <a:xfrm>
            <a:off x="990600" y="5473700"/>
            <a:ext cx="5334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800" b="0" i="0" u="none" strike="noStrike" spc="-200">
                <a:solidFill>
                  <a:srgbClr val="FFFFFF"/>
                </a:solidFill>
                <a:ea typeface="S-Core Dream 5 Medium"/>
              </a:rPr>
              <a:t>테스트</a:t>
            </a:r>
            <a:r>
              <a:rPr lang="en-US" sz="2800" b="0" i="0" u="none" strike="noStrike" spc="-200">
                <a:solidFill>
                  <a:srgbClr val="FFFFFF"/>
                </a:solidFill>
                <a:latin typeface="S-Core Dream 5 Medium"/>
              </a:rPr>
              <a:t> </a:t>
            </a:r>
            <a:r>
              <a:rPr lang="ko-KR" sz="2800" b="0" i="0" u="none" strike="noStrike" spc="-200">
                <a:solidFill>
                  <a:srgbClr val="FFFFFF"/>
                </a:solidFill>
                <a:ea typeface="S-Core Dream 5 Medium"/>
              </a:rPr>
              <a:t>및</a:t>
            </a:r>
            <a:r>
              <a:rPr lang="en-US" sz="2800" b="0" i="0" u="none" strike="noStrike" spc="-200">
                <a:solidFill>
                  <a:srgbClr val="FFFFFF"/>
                </a:solidFill>
                <a:latin typeface="S-Core Dream 5 Medium"/>
              </a:rPr>
              <a:t> QA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0600" y="6604000"/>
            <a:ext cx="5308600" cy="185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기능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단위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테스트를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통한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주요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로직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검증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 spc="-100">
              <a:solidFill>
                <a:srgbClr val="000000"/>
              </a:solidFill>
              <a:ea typeface="S-Core Dream 5 Medium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실제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사용자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시나리오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기반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수동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테스트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진행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 spc="-100">
              <a:solidFill>
                <a:srgbClr val="000000"/>
              </a:solidFill>
              <a:ea typeface="S-Core Dream 5 Medium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예외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상황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(API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실패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,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입력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오류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등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)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테스트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및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수정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 spc="-100">
              <a:solidFill>
                <a:srgbClr val="000000"/>
              </a:solidFill>
              <a:ea typeface="S-Core Dream 5 Medium"/>
            </a:endParaRP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UI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레이아웃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및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기본적인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브라우저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호환성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점검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6600" y="838200"/>
            <a:ext cx="6083300" cy="2438400"/>
          </a:xfrm>
          <a:prstGeom prst="rect">
            <a:avLst/>
          </a:prstGeom>
          <a:effectLst>
            <a:outerShdw blurRad="51677" dist="93661" dir="5400000">
              <a:srgbClr val="CDD9ED">
                <a:alpha val="41000"/>
              </a:srgbClr>
            </a:outerShdw>
          </a:effectLst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1587500"/>
            <a:ext cx="6083300" cy="3340100"/>
          </a:xfrm>
          <a:prstGeom prst="rect">
            <a:avLst/>
          </a:prstGeom>
          <a:effectLst>
            <a:outerShdw blurRad="97480" dist="128637" dir="5400000">
              <a:srgbClr val="CDD9ED">
                <a:alpha val="41000"/>
              </a:srgbClr>
            </a:outerShdw>
          </a:effectLst>
        </p:spPr>
      </p:pic>
      <p:sp>
        <p:nvSpPr>
          <p:cNvPr id="19" name="TextBox 19"/>
          <p:cNvSpPr txBox="1"/>
          <p:nvPr/>
        </p:nvSpPr>
        <p:spPr>
          <a:xfrm>
            <a:off x="7493000" y="952500"/>
            <a:ext cx="5334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800" b="0" i="0" u="none" strike="noStrike" spc="-200">
                <a:solidFill>
                  <a:srgbClr val="FFFFFF"/>
                </a:solidFill>
                <a:ea typeface="S-Core Dream 5 Medium"/>
              </a:rPr>
              <a:t>개발</a:t>
            </a:r>
            <a:r>
              <a:rPr lang="en-US" sz="2800" b="0" i="0" u="none" strike="noStrike" spc="-200">
                <a:solidFill>
                  <a:srgbClr val="FFFFFF"/>
                </a:solidFill>
                <a:latin typeface="S-Core Dream 5 Medium"/>
              </a:rPr>
              <a:t> </a:t>
            </a:r>
            <a:r>
              <a:rPr lang="ko-KR" sz="2800" b="0" i="0" u="none" strike="noStrike" spc="-200">
                <a:solidFill>
                  <a:srgbClr val="FFFFFF"/>
                </a:solidFill>
                <a:ea typeface="S-Core Dream 5 Medium"/>
              </a:rPr>
              <a:t>및</a:t>
            </a:r>
            <a:r>
              <a:rPr lang="en-US" sz="2800" b="0" i="0" u="none" strike="noStrike" spc="-200">
                <a:solidFill>
                  <a:srgbClr val="FFFFFF"/>
                </a:solidFill>
                <a:latin typeface="S-Core Dream 5 Medium"/>
              </a:rPr>
              <a:t> </a:t>
            </a:r>
            <a:r>
              <a:rPr lang="ko-KR" sz="2800" b="0" i="0" u="none" strike="noStrike" spc="-200">
                <a:solidFill>
                  <a:srgbClr val="FFFFFF"/>
                </a:solidFill>
                <a:ea typeface="S-Core Dream 5 Medium"/>
              </a:rPr>
              <a:t>구현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493000" y="2184400"/>
            <a:ext cx="5308600" cy="1854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Spring Boot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기반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백엔드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기능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구현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 spc="-100">
              <a:solidFill>
                <a:srgbClr val="000000"/>
              </a:solidFill>
              <a:ea typeface="S-Core Dream 5 Medium"/>
            </a:endParaRP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PDF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업로드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및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텍스트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추출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기능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구현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 spc="-100">
              <a:solidFill>
                <a:srgbClr val="000000"/>
              </a:solidFill>
              <a:ea typeface="S-Core Dream 5 Medium"/>
            </a:endParaRP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Gemini API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를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활용한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AI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문제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생성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기능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구현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 spc="-100">
              <a:solidFill>
                <a:srgbClr val="000000"/>
              </a:solidFill>
              <a:ea typeface="S-Core Dream 5 Medium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사용자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,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문제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,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그룹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,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토론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,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알림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기능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구현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5359400"/>
            <a:ext cx="6083300" cy="2438400"/>
          </a:xfrm>
          <a:prstGeom prst="rect">
            <a:avLst/>
          </a:prstGeom>
          <a:effectLst>
            <a:outerShdw blurRad="51677" dist="93661" dir="5400000">
              <a:srgbClr val="CDD9ED">
                <a:alpha val="41000"/>
              </a:srgbClr>
            </a:outerShdw>
          </a:effectLst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6108700"/>
            <a:ext cx="6083300" cy="3340100"/>
          </a:xfrm>
          <a:prstGeom prst="rect">
            <a:avLst/>
          </a:prstGeom>
          <a:effectLst>
            <a:outerShdw blurRad="97480" dist="128637" dir="5400000">
              <a:srgbClr val="CDD9ED">
                <a:alpha val="41000"/>
              </a:srgbClr>
            </a:outerShdw>
          </a:effectLst>
        </p:spPr>
      </p:pic>
      <p:sp>
        <p:nvSpPr>
          <p:cNvPr id="23" name="TextBox 23"/>
          <p:cNvSpPr txBox="1"/>
          <p:nvPr/>
        </p:nvSpPr>
        <p:spPr>
          <a:xfrm>
            <a:off x="7493000" y="5473700"/>
            <a:ext cx="5334000" cy="495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2800" b="0" i="0" u="none" strike="noStrike" spc="-200">
                <a:solidFill>
                  <a:srgbClr val="FFFFFF"/>
                </a:solidFill>
                <a:ea typeface="S-Core Dream 5 Medium"/>
              </a:rPr>
              <a:t>배포</a:t>
            </a:r>
            <a:r>
              <a:rPr lang="en-US" sz="2800" b="0" i="0" u="none" strike="noStrike" spc="-200">
                <a:solidFill>
                  <a:srgbClr val="FFFFFF"/>
                </a:solidFill>
                <a:latin typeface="S-Core Dream 5 Medium"/>
              </a:rPr>
              <a:t> </a:t>
            </a:r>
            <a:r>
              <a:rPr lang="ko-KR" sz="2800" b="0" i="0" u="none" strike="noStrike" spc="-200">
                <a:solidFill>
                  <a:srgbClr val="FFFFFF"/>
                </a:solidFill>
                <a:ea typeface="S-Core Dream 5 Medium"/>
              </a:rPr>
              <a:t>및</a:t>
            </a:r>
            <a:r>
              <a:rPr lang="en-US" sz="2800" b="0" i="0" u="none" strike="noStrike" spc="-200">
                <a:solidFill>
                  <a:srgbClr val="FFFFFF"/>
                </a:solidFill>
                <a:latin typeface="S-Core Dream 5 Medium"/>
              </a:rPr>
              <a:t> </a:t>
            </a:r>
            <a:r>
              <a:rPr lang="ko-KR" sz="2800" b="0" i="0" u="none" strike="noStrike" spc="-200">
                <a:solidFill>
                  <a:srgbClr val="FFFFFF"/>
                </a:solidFill>
                <a:ea typeface="S-Core Dream 5 Medium"/>
              </a:rPr>
              <a:t>모니터링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93000" y="6477000"/>
            <a:ext cx="5308600" cy="2628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Docker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패키징한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Spring Boot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를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Render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를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통해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배포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 spc="-100">
              <a:solidFill>
                <a:srgbClr val="000000"/>
              </a:solidFill>
              <a:ea typeface="S-Core Dream 5 Medium"/>
            </a:endParaRPr>
          </a:p>
          <a:p>
            <a:pPr lvl="0" algn="l">
              <a:lnSpc>
                <a:spcPct val="99600"/>
              </a:lnSpc>
            </a:pP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Railway MySQL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데이터베이스와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연동하여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애플리케이션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데이터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저장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환경을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구성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 spc="-100">
              <a:solidFill>
                <a:srgbClr val="000000"/>
              </a:solidFill>
              <a:ea typeface="S-Core Dream 5 Medium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실제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도메인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(aibongrak.work)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기반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서비스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운영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 spc="-100">
              <a:solidFill>
                <a:srgbClr val="000000"/>
              </a:solidFill>
              <a:ea typeface="S-Core Dream 5 Medium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서버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로그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,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키사용량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,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비율제한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등을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통한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오류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확인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및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개선</a:t>
            </a:r>
          </a:p>
          <a:p>
            <a:pPr lvl="0" algn="l">
              <a:lnSpc>
                <a:spcPct val="99600"/>
              </a:lnSpc>
            </a:pPr>
            <a:endParaRPr lang="ko-KR" sz="1700" b="0" i="0" u="none" strike="noStrike" spc="-100">
              <a:solidFill>
                <a:srgbClr val="000000"/>
              </a:solidFill>
              <a:ea typeface="S-Core Dream 5 Medium"/>
            </a:endParaRPr>
          </a:p>
          <a:p>
            <a:pPr lvl="0" algn="l">
              <a:lnSpc>
                <a:spcPct val="99600"/>
              </a:lnSpc>
            </a:pP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프로젝트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결과물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시연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및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최종</a:t>
            </a:r>
            <a:r>
              <a:rPr lang="en-US" sz="1700" b="0" i="0" u="none" strike="noStrike" spc="-100">
                <a:solidFill>
                  <a:srgbClr val="000000"/>
                </a:solidFill>
                <a:latin typeface="S-Core Dream 5 Medium"/>
              </a:rPr>
              <a:t> </a:t>
            </a:r>
            <a:r>
              <a:rPr lang="ko-KR" sz="1700" b="0" i="0" u="none" strike="noStrike" spc="-100">
                <a:solidFill>
                  <a:srgbClr val="000000"/>
                </a:solidFill>
                <a:ea typeface="S-Core Dream 5 Medium"/>
              </a:rPr>
              <a:t>점검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172700"/>
            <a:ext cx="9144000" cy="11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20000"/>
          </a:blip>
          <a:stretch>
            <a:fillRect/>
          </a:stretch>
        </p:blipFill>
        <p:spPr>
          <a:xfrm rot="5400000">
            <a:off x="9067800" y="5130800"/>
            <a:ext cx="8191500" cy="12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6200" y="1041400"/>
            <a:ext cx="11137900" cy="3721100"/>
          </a:xfrm>
          <a:prstGeom prst="rect">
            <a:avLst/>
          </a:prstGeom>
          <a:effectLst>
            <a:outerShdw blurRad="121066" dist="143358" dir="5400000">
              <a:srgbClr val="CDD9ED">
                <a:alpha val="41000"/>
              </a:srgbClr>
            </a:outerShdw>
          </a:effectLst>
        </p:spPr>
      </p:pic>
      <p:sp>
        <p:nvSpPr>
          <p:cNvPr id="8" name="TextBox 8"/>
          <p:cNvSpPr txBox="1"/>
          <p:nvPr/>
        </p:nvSpPr>
        <p:spPr>
          <a:xfrm>
            <a:off x="2070100" y="2527300"/>
            <a:ext cx="9740900" cy="10668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 ai</a:t>
            </a:r>
            <a:r>
              <a:rPr lang="ko-KR" sz="2200" b="0" i="0" u="none" strike="noStrike" spc="-200">
                <a:solidFill>
                  <a:srgbClr val="000000">
                    <a:alpha val="36078"/>
                  </a:srgbClr>
                </a:solidFill>
                <a:ea typeface="Pretendard Regular"/>
              </a:rPr>
              <a:t>기능을</a:t>
            </a:r>
            <a:r>
              <a:rPr lang="en-US" sz="22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200" b="0" i="0" u="none" strike="noStrike" spc="-200">
                <a:solidFill>
                  <a:srgbClr val="000000">
                    <a:alpha val="36078"/>
                  </a:srgbClr>
                </a:solidFill>
                <a:ea typeface="Pretendard Regular"/>
              </a:rPr>
              <a:t>추가하는</a:t>
            </a:r>
            <a:r>
              <a:rPr lang="en-US" sz="22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200" b="0" i="0" u="none" strike="noStrike" spc="-200">
                <a:solidFill>
                  <a:srgbClr val="000000">
                    <a:alpha val="36078"/>
                  </a:srgbClr>
                </a:solidFill>
                <a:ea typeface="Pretendard Regular"/>
              </a:rPr>
              <a:t>것이</a:t>
            </a:r>
            <a:r>
              <a:rPr lang="en-US" sz="22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200" b="0" i="0" u="none" strike="noStrike" spc="-200">
                <a:solidFill>
                  <a:srgbClr val="000000">
                    <a:alpha val="36078"/>
                  </a:srgbClr>
                </a:solidFill>
                <a:ea typeface="Pretendard Regular"/>
              </a:rPr>
              <a:t>좋을</a:t>
            </a:r>
            <a:r>
              <a:rPr lang="en-US" sz="22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200" b="0" i="0" u="none" strike="noStrike" spc="-200">
                <a:solidFill>
                  <a:srgbClr val="000000">
                    <a:alpha val="36078"/>
                  </a:srgbClr>
                </a:solidFill>
                <a:ea typeface="Pretendard Regular"/>
              </a:rPr>
              <a:t>것</a:t>
            </a:r>
            <a:r>
              <a:rPr lang="en-US" sz="22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200" b="0" i="0" u="none" strike="noStrike" spc="-200">
                <a:solidFill>
                  <a:srgbClr val="000000">
                    <a:alpha val="36078"/>
                  </a:srgbClr>
                </a:solidFill>
                <a:ea typeface="Pretendard Regular"/>
              </a:rPr>
              <a:t>같다</a:t>
            </a:r>
            <a:r>
              <a:rPr lang="en-US" sz="22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. </a:t>
            </a: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en-US" sz="22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ui</a:t>
            </a:r>
            <a:r>
              <a:rPr lang="ko-KR" sz="2200" b="0" i="0" u="none" strike="noStrike" spc="-200">
                <a:solidFill>
                  <a:srgbClr val="000000">
                    <a:alpha val="36078"/>
                  </a:srgbClr>
                </a:solidFill>
                <a:ea typeface="Pretendard Regular"/>
              </a:rPr>
              <a:t>가</a:t>
            </a:r>
            <a:r>
              <a:rPr lang="en-US" sz="22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200" b="0" i="0" u="none" strike="noStrike" spc="-200">
                <a:solidFill>
                  <a:srgbClr val="000000">
                    <a:alpha val="36078"/>
                  </a:srgbClr>
                </a:solidFill>
                <a:ea typeface="Pretendard Regular"/>
              </a:rPr>
              <a:t>직관적이지</a:t>
            </a:r>
            <a:r>
              <a:rPr lang="en-US" sz="2200" b="0" i="0" u="none" strike="noStrike" spc="-20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sz="2200" b="0" i="0" u="none" strike="noStrike" spc="-200">
                <a:solidFill>
                  <a:srgbClr val="000000">
                    <a:alpha val="36078"/>
                  </a:srgbClr>
                </a:solidFill>
                <a:ea typeface="Pretendard Regular"/>
              </a:rPr>
              <a:t>못함</a:t>
            </a:r>
          </a:p>
          <a:p>
            <a:pPr lvl="0" algn="l">
              <a:lnSpc>
                <a:spcPct val="99600"/>
              </a:lnSpc>
            </a:pPr>
            <a:endParaRPr lang="ko-KR" sz="2200" b="0" i="0" u="none" strike="noStrike" spc="-200">
              <a:solidFill>
                <a:srgbClr val="000000">
                  <a:alpha val="36078"/>
                </a:srgbClr>
              </a:solidFill>
              <a:ea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070100" y="1828800"/>
            <a:ext cx="97536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sz="2700" b="0" i="0" u="none" strike="noStrike" spc="-200">
                <a:solidFill>
                  <a:srgbClr val="3958E3"/>
                </a:solidFill>
                <a:ea typeface="S-Core Dream 5 Medium"/>
              </a:rPr>
              <a:t>수집된</a:t>
            </a:r>
            <a:r>
              <a:rPr lang="en-US" sz="2700" b="0" i="0" u="none" strike="noStrike" spc="-200">
                <a:solidFill>
                  <a:srgbClr val="3958E3"/>
                </a:solidFill>
                <a:latin typeface="S-Core Dream 5 Medium"/>
              </a:rPr>
              <a:t> </a:t>
            </a:r>
            <a:r>
              <a:rPr lang="ko-KR" sz="2700" b="0" i="0" u="none" strike="noStrike" spc="-200">
                <a:solidFill>
                  <a:srgbClr val="3958E3"/>
                </a:solidFill>
                <a:ea typeface="S-Core Dream 5 Medium"/>
              </a:rPr>
              <a:t>주요</a:t>
            </a:r>
            <a:r>
              <a:rPr lang="en-US" sz="2700" b="0" i="0" u="none" strike="noStrike" spc="-200">
                <a:solidFill>
                  <a:srgbClr val="3958E3"/>
                </a:solidFill>
                <a:latin typeface="S-Core Dream 5 Medium"/>
              </a:rPr>
              <a:t> </a:t>
            </a:r>
            <a:r>
              <a:rPr lang="ko-KR" sz="2700" b="0" i="0" u="none" strike="noStrike" spc="-200">
                <a:solidFill>
                  <a:srgbClr val="3958E3"/>
                </a:solidFill>
                <a:ea typeface="S-Core Dream 5 Medium"/>
              </a:rPr>
              <a:t>피드백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11200" y="2997200"/>
            <a:ext cx="4368800" cy="2895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r">
              <a:lnSpc>
                <a:spcPct val="99600"/>
              </a:lnSpc>
            </a:pPr>
            <a:r>
              <a:rPr lang="ko-KR" sz="6000" b="0" i="0" u="none" strike="noStrike">
                <a:solidFill>
                  <a:srgbClr val="44CCE5"/>
                </a:solidFill>
                <a:ea typeface="S-Core Dream 7 ExtraBold"/>
              </a:rPr>
              <a:t>사용자</a:t>
            </a:r>
            <a:r>
              <a:rPr lang="en-US" sz="6000" b="0" i="0" u="none" strike="noStrike">
                <a:solidFill>
                  <a:srgbClr val="44CCE5"/>
                </a:solidFill>
                <a:latin typeface="S-Core Dream 7 ExtraBold"/>
              </a:rPr>
              <a:t> </a:t>
            </a:r>
            <a:r>
              <a:rPr lang="ko-KR" sz="6000" b="0" i="0" u="none" strike="noStrike">
                <a:solidFill>
                  <a:srgbClr val="44CCE5"/>
                </a:solidFill>
                <a:ea typeface="S-Core Dream 7 ExtraBold"/>
              </a:rPr>
              <a:t>피드백</a:t>
            </a:r>
            <a:r>
              <a:rPr lang="en-US" sz="6000" b="0" i="0" u="none" strike="noStrike">
                <a:solidFill>
                  <a:srgbClr val="44CCE5"/>
                </a:solidFill>
                <a:latin typeface="S-Core Dream 7 ExtraBold"/>
              </a:rPr>
              <a:t> </a:t>
            </a:r>
            <a:r>
              <a:rPr lang="ko-KR" sz="6000" b="0" i="0" u="none" strike="noStrike">
                <a:solidFill>
                  <a:srgbClr val="44CCE5"/>
                </a:solidFill>
                <a:ea typeface="S-Core Dream 7 ExtraBold"/>
              </a:rPr>
              <a:t>및</a:t>
            </a:r>
            <a:r>
              <a:rPr lang="en-US" sz="6000" b="0" i="0" u="none" strike="noStrike">
                <a:solidFill>
                  <a:srgbClr val="44CCE5"/>
                </a:solidFill>
                <a:latin typeface="S-Core Dream 7 ExtraBold"/>
              </a:rPr>
              <a:t> </a:t>
            </a:r>
            <a:r>
              <a:rPr lang="ko-KR" sz="6000" b="0" i="0" u="none" strike="noStrike">
                <a:solidFill>
                  <a:srgbClr val="44CCE5"/>
                </a:solidFill>
                <a:ea typeface="S-Core Dream 7 ExtraBold"/>
              </a:rPr>
              <a:t>개선사항</a:t>
            </a: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" y="5969000"/>
            <a:ext cx="11137900" cy="3721100"/>
          </a:xfrm>
          <a:prstGeom prst="rect">
            <a:avLst/>
          </a:prstGeom>
          <a:effectLst>
            <a:outerShdw blurRad="121066" dist="143358" dir="5400000">
              <a:srgbClr val="CDD9ED">
                <a:alpha val="41000"/>
              </a:srgbClr>
            </a:outerShdw>
          </a:effectLst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4343400" y="4457700"/>
            <a:ext cx="1168400" cy="1879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367000" y="749300"/>
            <a:ext cx="2768600" cy="2768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064500" y="4457700"/>
            <a:ext cx="1168400" cy="18796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057400" y="7277100"/>
            <a:ext cx="9740900" cy="1727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endParaRPr lang="ko-KR" sz="2200" b="0" i="0" u="none" strike="noStrike" spc="-200" dirty="0">
              <a:solidFill>
                <a:srgbClr val="000000">
                  <a:alpha val="36078"/>
                </a:srgbClr>
              </a:solidFill>
              <a:ea typeface="Pretendard Regular"/>
            </a:endParaRPr>
          </a:p>
          <a:p>
            <a:pPr marL="342900" indent="-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ko-KR" sz="2200" spc="-200" dirty="0">
                <a:solidFill>
                  <a:srgbClr val="000000">
                    <a:alpha val="36078"/>
                  </a:srgbClr>
                </a:solidFill>
                <a:ea typeface="Pretendard Regular"/>
              </a:rPr>
              <a:t>문제</a:t>
            </a:r>
            <a:r>
              <a:rPr lang="en-US" altLang="ko-KR" sz="2200" spc="-200" dirty="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altLang="ko-KR" sz="2200" spc="-200" dirty="0">
                <a:solidFill>
                  <a:srgbClr val="000000">
                    <a:alpha val="36078"/>
                  </a:srgbClr>
                </a:solidFill>
                <a:ea typeface="Pretendard Regular"/>
              </a:rPr>
              <a:t>스타일링</a:t>
            </a:r>
            <a:r>
              <a:rPr lang="en-US" altLang="ko-KR" sz="2200" spc="-200" dirty="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ai</a:t>
            </a:r>
            <a:r>
              <a:rPr lang="ko-KR" altLang="ko-KR" sz="2200" spc="-200" dirty="0">
                <a:solidFill>
                  <a:srgbClr val="000000">
                    <a:alpha val="36078"/>
                  </a:srgbClr>
                </a:solidFill>
                <a:ea typeface="Pretendard Regular"/>
              </a:rPr>
              <a:t>를</a:t>
            </a:r>
            <a:r>
              <a:rPr lang="en-US" altLang="ko-KR" sz="2200" spc="-200" dirty="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altLang="ko-KR" sz="2200" spc="-200" dirty="0">
                <a:solidFill>
                  <a:srgbClr val="000000">
                    <a:alpha val="36078"/>
                  </a:srgbClr>
                </a:solidFill>
                <a:ea typeface="Pretendard Regular"/>
              </a:rPr>
              <a:t>통해</a:t>
            </a:r>
            <a:r>
              <a:rPr lang="en-US" altLang="ko-KR" sz="2200" spc="-200" dirty="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altLang="ko-KR" sz="2200" spc="-200" dirty="0">
                <a:solidFill>
                  <a:srgbClr val="000000">
                    <a:alpha val="36078"/>
                  </a:srgbClr>
                </a:solidFill>
                <a:ea typeface="Pretendard Regular"/>
              </a:rPr>
              <a:t>문제</a:t>
            </a:r>
            <a:r>
              <a:rPr lang="en-US" altLang="ko-KR" sz="2200" spc="-200" dirty="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altLang="ko-KR" sz="2200" spc="-200" dirty="0">
                <a:solidFill>
                  <a:srgbClr val="000000">
                    <a:alpha val="36078"/>
                  </a:srgbClr>
                </a:solidFill>
                <a:ea typeface="Pretendard Regular"/>
              </a:rPr>
              <a:t>커스텀</a:t>
            </a:r>
            <a:r>
              <a:rPr lang="en-US" altLang="ko-KR" sz="2200" spc="-200" dirty="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 </a:t>
            </a:r>
            <a:r>
              <a:rPr lang="ko-KR" altLang="ko-KR" sz="2200" spc="-200" dirty="0">
                <a:solidFill>
                  <a:srgbClr val="000000">
                    <a:alpha val="36078"/>
                  </a:srgbClr>
                </a:solidFill>
                <a:ea typeface="Pretendard Regular"/>
              </a:rPr>
              <a:t>기능</a:t>
            </a:r>
            <a:endParaRPr lang="en-US" altLang="ko-KR" sz="2200" spc="-200" dirty="0">
              <a:solidFill>
                <a:srgbClr val="000000">
                  <a:alpha val="36078"/>
                </a:srgbClr>
              </a:solidFill>
              <a:latin typeface="Pretendard Regular"/>
            </a:endParaRPr>
          </a:p>
          <a:p>
            <a:pPr marL="342900" indent="-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ko-KR" sz="2200" spc="-200" dirty="0">
                <a:solidFill>
                  <a:srgbClr val="000000">
                    <a:alpha val="36078"/>
                  </a:srgbClr>
                </a:solidFill>
                <a:ea typeface="Pretendard Regular"/>
              </a:rPr>
              <a:t>직관적으로</a:t>
            </a:r>
            <a:r>
              <a:rPr lang="en-US" altLang="ko-KR" sz="2200" spc="-200" dirty="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  UII</a:t>
            </a:r>
            <a:r>
              <a:rPr lang="ko-KR" altLang="en-US" sz="2200" spc="-200" dirty="0">
                <a:solidFill>
                  <a:srgbClr val="000000">
                    <a:alpha val="36078"/>
                  </a:srgbClr>
                </a:solidFill>
                <a:latin typeface="Pretendard Regular"/>
              </a:rPr>
              <a:t>를 개선함</a:t>
            </a:r>
            <a:endParaRPr lang="en-US" altLang="ko-KR" sz="2200" spc="-200" dirty="0">
              <a:solidFill>
                <a:srgbClr val="000000">
                  <a:alpha val="36078"/>
                </a:srgbClr>
              </a:solidFill>
              <a:latin typeface="Pretendard Regular"/>
            </a:endParaRPr>
          </a:p>
          <a:p>
            <a:pPr marL="342900" indent="-342900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endParaRPr lang="en-US" altLang="ko-KR" sz="2200" spc="-200" dirty="0">
              <a:solidFill>
                <a:srgbClr val="000000">
                  <a:alpha val="36078"/>
                </a:srgbClr>
              </a:solidFill>
              <a:latin typeface="Pretendard Regular"/>
            </a:endParaRPr>
          </a:p>
          <a:p>
            <a:pPr marL="342900" lvl="0" indent="-342900" algn="l">
              <a:lnSpc>
                <a:spcPct val="99600"/>
              </a:lnSpc>
              <a:buClr>
                <a:srgbClr val="000000"/>
              </a:buClr>
              <a:buFont typeface="Arial"/>
              <a:buChar char="●"/>
            </a:pPr>
            <a:endParaRPr lang="en-US" sz="2200" b="0" i="0" u="none" strike="noStrike" spc="-200" dirty="0">
              <a:solidFill>
                <a:srgbClr val="000000">
                  <a:alpha val="36078"/>
                </a:srgbClr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endParaRPr lang="en-US" sz="2200" b="0" i="0" u="none" strike="noStrike" spc="-200" dirty="0">
              <a:solidFill>
                <a:srgbClr val="000000">
                  <a:alpha val="36078"/>
                </a:srgbClr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endParaRPr lang="en-US" sz="2200" b="0" i="0" u="none" strike="noStrike" spc="-200" dirty="0">
              <a:solidFill>
                <a:srgbClr val="000000">
                  <a:alpha val="36078"/>
                </a:srgbClr>
              </a:solidFill>
              <a:latin typeface="Pretendard Regular"/>
            </a:endParaRPr>
          </a:p>
          <a:p>
            <a:pPr lvl="0" algn="l">
              <a:lnSpc>
                <a:spcPct val="99600"/>
              </a:lnSpc>
            </a:pPr>
            <a:endParaRPr lang="en-US" sz="2200" b="0" i="0" u="none" strike="noStrike" spc="-200" dirty="0">
              <a:solidFill>
                <a:srgbClr val="000000">
                  <a:alpha val="36078"/>
                </a:srgbClr>
              </a:solidFill>
              <a:latin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57400" y="6756400"/>
            <a:ext cx="9753600" cy="482600"/>
          </a:xfrm>
          <a:prstGeom prst="rect">
            <a:avLst/>
          </a:prstGeom>
        </p:spPr>
        <p:txBody>
          <a:bodyPr lIns="0" tIns="0" rIns="0" bIns="0" rtlCol="0" anchor="b"/>
          <a:lstStyle/>
          <a:p>
            <a:pPr lvl="0" algn="l">
              <a:lnSpc>
                <a:spcPct val="99600"/>
              </a:lnSpc>
            </a:pPr>
            <a:r>
              <a:rPr lang="ko-KR" sz="2700" b="0" i="0" u="none" strike="noStrike" spc="-200">
                <a:solidFill>
                  <a:srgbClr val="3958E3"/>
                </a:solidFill>
                <a:ea typeface="S-Core Dream 5 Medium"/>
              </a:rPr>
              <a:t>개선된</a:t>
            </a:r>
            <a:r>
              <a:rPr lang="en-US" sz="2700" b="0" i="0" u="none" strike="noStrike" spc="-200">
                <a:solidFill>
                  <a:srgbClr val="3958E3"/>
                </a:solidFill>
                <a:latin typeface="S-Core Dream 5 Medium"/>
              </a:rPr>
              <a:t> </a:t>
            </a:r>
            <a:r>
              <a:rPr lang="ko-KR" sz="2700" b="0" i="0" u="none" strike="noStrike" spc="-200">
                <a:solidFill>
                  <a:srgbClr val="3958E3"/>
                </a:solidFill>
                <a:ea typeface="S-Core Dream 5 Medium"/>
              </a:rPr>
              <a:t>기능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8000"/>
          </a:blip>
          <a:stretch>
            <a:fillRect/>
          </a:stretch>
        </p:blipFill>
        <p:spPr>
          <a:xfrm rot="-16200000">
            <a:off x="4000500" y="-4000500"/>
            <a:ext cx="10299700" cy="18313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4356100" y="-584200"/>
            <a:ext cx="11849100" cy="10071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6200" y="10172700"/>
            <a:ext cx="18427700" cy="114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0172700"/>
            <a:ext cx="9144000" cy="114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019300" y="3949700"/>
            <a:ext cx="2819400" cy="3479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79900" y="4394200"/>
            <a:ext cx="2755900" cy="2590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44700" y="5676900"/>
            <a:ext cx="2946400" cy="276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00" y="5880100"/>
            <a:ext cx="2933700" cy="2628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024100" y="7429500"/>
            <a:ext cx="520700" cy="1816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1700" y="7188200"/>
            <a:ext cx="482600" cy="1803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32100" y="7543800"/>
            <a:ext cx="520700" cy="1828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3098800" y="1993900"/>
            <a:ext cx="11696700" cy="7518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김성락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: 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협업을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통해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어려운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문제도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단계적으로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해결할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수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있음을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배웠고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,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교재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기반의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구현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경험으로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스프링부트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개발에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대한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자신감을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 spc="-300">
                <a:solidFill>
                  <a:srgbClr val="787878"/>
                </a:solidFill>
                <a:ea typeface="Pretendard Regular"/>
              </a:rPr>
              <a:t>얻었습니다</a:t>
            </a:r>
            <a:r>
              <a:rPr lang="en-US" sz="3400" b="0" i="0" u="none" strike="noStrike" spc="-300">
                <a:solidFill>
                  <a:srgbClr val="787878"/>
                </a:solidFill>
                <a:latin typeface="Pretendard Regular"/>
              </a:rPr>
              <a:t>.</a:t>
            </a:r>
          </a:p>
          <a:p>
            <a:pPr lvl="0" algn="ctr">
              <a:lnSpc>
                <a:spcPct val="132800"/>
              </a:lnSpc>
            </a:pPr>
            <a:endParaRPr lang="en-US" sz="3400" b="0" i="0" u="none" strike="noStrike" spc="-300">
              <a:solidFill>
                <a:srgbClr val="787878"/>
              </a:solidFill>
              <a:latin typeface="Pretendard Regular"/>
            </a:endParaRPr>
          </a:p>
          <a:p>
            <a:pPr lvl="0" algn="ctr">
              <a:lnSpc>
                <a:spcPct val="132800"/>
              </a:lnSpc>
            </a:pP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최봉규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: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이번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프로젝트를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통해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프로젝트가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기획부터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구현까지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어떤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흐름으로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진행되는지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알게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되었으며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,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기존에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구상만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하던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아이디어를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웹으로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직접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구현해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볼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수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있었던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경험이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인상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깊었습니다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.</a:t>
            </a:r>
          </a:p>
          <a:p>
            <a:pPr lvl="0" algn="ctr">
              <a:lnSpc>
                <a:spcPct val="132800"/>
              </a:lnSpc>
            </a:pPr>
            <a:endParaRPr lang="en-US" sz="3400" b="0" i="0" u="none" strike="noStrike">
              <a:solidFill>
                <a:srgbClr val="787878"/>
              </a:solidFill>
              <a:latin typeface="Pretendard Regular"/>
            </a:endParaRPr>
          </a:p>
          <a:p>
            <a:pPr lvl="0" algn="ctr">
              <a:lnSpc>
                <a:spcPct val="132800"/>
              </a:lnSpc>
            </a:pPr>
            <a:r>
              <a:rPr lang="ko-KR" sz="3400" b="0" i="0" u="none" strike="noStrike">
                <a:solidFill>
                  <a:srgbClr val="382F2D"/>
                </a:solidFill>
                <a:ea typeface="Pretendard Regular"/>
              </a:rPr>
              <a:t>향후</a:t>
            </a:r>
            <a:r>
              <a:rPr lang="en-US" sz="3400" b="0" i="0" u="none" strike="noStrike">
                <a:solidFill>
                  <a:srgbClr val="382F2D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382F2D"/>
                </a:solidFill>
                <a:ea typeface="Pretendard Regular"/>
              </a:rPr>
              <a:t>계획</a:t>
            </a:r>
          </a:p>
          <a:p>
            <a:pPr lvl="0" algn="ctr">
              <a:lnSpc>
                <a:spcPct val="132800"/>
              </a:lnSpc>
            </a:pP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모바일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환경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지원과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함께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손필기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및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이미지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인식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기반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문제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생성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기능을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확장하고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,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자동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문제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생성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시스템을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통해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학습의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지속성을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강화하고자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 </a:t>
            </a:r>
            <a:r>
              <a:rPr lang="ko-KR" sz="3400" b="0" i="0" u="none" strike="noStrike">
                <a:solidFill>
                  <a:srgbClr val="787878"/>
                </a:solidFill>
                <a:ea typeface="Pretendard Regular"/>
              </a:rPr>
              <a:t>합니다</a:t>
            </a:r>
            <a:r>
              <a:rPr lang="en-US" sz="3400" b="0" i="0" u="none" strike="noStrike">
                <a:solidFill>
                  <a:srgbClr val="787878"/>
                </a:solidFill>
                <a:latin typeface="Pretendard Regular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2500" y="800100"/>
            <a:ext cx="163830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6000" b="0" i="0" u="none" strike="noStrike" spc="-500">
                <a:solidFill>
                  <a:srgbClr val="000000"/>
                </a:solidFill>
                <a:ea typeface="S-Core Dream 7 ExtraBold"/>
              </a:rPr>
              <a:t>결론</a:t>
            </a:r>
            <a:r>
              <a:rPr lang="en-US" sz="6000" b="0" i="0" u="none" strike="noStrike" spc="-50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6000" b="0" i="0" u="none" strike="noStrike" spc="-500">
                <a:solidFill>
                  <a:srgbClr val="000000"/>
                </a:solidFill>
                <a:ea typeface="S-Core Dream 7 ExtraBold"/>
              </a:rPr>
              <a:t>및</a:t>
            </a:r>
            <a:r>
              <a:rPr lang="en-US" sz="6000" b="0" i="0" u="none" strike="noStrike" spc="-50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6000" b="0" i="0" u="none" strike="noStrike" spc="-500">
                <a:solidFill>
                  <a:srgbClr val="000000"/>
                </a:solidFill>
                <a:ea typeface="S-Core Dream 7 ExtraBold"/>
              </a:rPr>
              <a:t>향후</a:t>
            </a:r>
            <a:r>
              <a:rPr lang="en-US" sz="6000" b="0" i="0" u="none" strike="noStrike" spc="-500">
                <a:solidFill>
                  <a:srgbClr val="000000"/>
                </a:solidFill>
                <a:latin typeface="S-Core Dream 7 ExtraBold"/>
              </a:rPr>
              <a:t> </a:t>
            </a:r>
            <a:r>
              <a:rPr lang="ko-KR" sz="6000" b="0" i="0" u="none" strike="noStrike" spc="-500">
                <a:solidFill>
                  <a:srgbClr val="000000"/>
                </a:solidFill>
                <a:ea typeface="S-Core Dream 7 ExtraBold"/>
              </a:rPr>
              <a:t>계획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10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951200" y="9563100"/>
            <a:ext cx="1879600" cy="279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2200" b="0" i="0" u="none" strike="noStrike">
                <a:solidFill>
                  <a:srgbClr val="000000"/>
                </a:solidFill>
                <a:latin typeface="Pretendard Regular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585</Words>
  <Application>Microsoft Office PowerPoint</Application>
  <PresentationFormat>사용자 지정</PresentationFormat>
  <Paragraphs>165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Arial</vt:lpstr>
      <vt:lpstr>Pretendard Black</vt:lpstr>
      <vt:lpstr>Pretendard Medium</vt:lpstr>
      <vt:lpstr>S-Core Dream 7 ExtraBold</vt:lpstr>
      <vt:lpstr>S-Core Dream 5 Medium</vt:lpstr>
      <vt:lpstr>Pretendard Bold</vt:lpstr>
      <vt:lpstr>Calibri</vt:lpstr>
      <vt:lpstr>Pretendard Regular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최봉규</cp:lastModifiedBy>
  <cp:revision>3</cp:revision>
  <cp:lastPrinted>2025-12-15T03:57:21Z</cp:lastPrinted>
  <dcterms:created xsi:type="dcterms:W3CDTF">2006-08-16T00:00:00Z</dcterms:created>
  <dcterms:modified xsi:type="dcterms:W3CDTF">2025-12-15T03:58:44Z</dcterms:modified>
</cp:coreProperties>
</file>